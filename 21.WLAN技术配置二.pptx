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9" r:id="rId2"/>
    <p:sldMasterId id="2147483682" r:id="rId3"/>
  </p:sldMasterIdLst>
  <p:notesMasterIdLst>
    <p:notesMasterId r:id="rId28"/>
  </p:notesMasterIdLst>
  <p:handoutMasterIdLst>
    <p:handoutMasterId r:id="rId29"/>
  </p:handoutMasterIdLst>
  <p:sldIdLst>
    <p:sldId id="747" r:id="rId4"/>
    <p:sldId id="876" r:id="rId5"/>
    <p:sldId id="872" r:id="rId6"/>
    <p:sldId id="873" r:id="rId7"/>
    <p:sldId id="866" r:id="rId8"/>
    <p:sldId id="932" r:id="rId9"/>
    <p:sldId id="933" r:id="rId10"/>
    <p:sldId id="934" r:id="rId11"/>
    <p:sldId id="935" r:id="rId12"/>
    <p:sldId id="936" r:id="rId13"/>
    <p:sldId id="937" r:id="rId14"/>
    <p:sldId id="938" r:id="rId15"/>
    <p:sldId id="939" r:id="rId16"/>
    <p:sldId id="940" r:id="rId17"/>
    <p:sldId id="942" r:id="rId18"/>
    <p:sldId id="943" r:id="rId19"/>
    <p:sldId id="944" r:id="rId20"/>
    <p:sldId id="945" r:id="rId21"/>
    <p:sldId id="946" r:id="rId22"/>
    <p:sldId id="947" r:id="rId23"/>
    <p:sldId id="948" r:id="rId24"/>
    <p:sldId id="949" r:id="rId25"/>
    <p:sldId id="950" r:id="rId26"/>
    <p:sldId id="951" r:id="rId27"/>
  </p:sldIdLst>
  <p:sldSz cx="12192000" cy="6858000"/>
  <p:notesSz cx="7099300" cy="10234613"/>
  <p:defaultTextStyle>
    <a:defPPr>
      <a:defRPr lang="zh-CN"/>
    </a:defPPr>
    <a:lvl1pPr marL="0" lvl="0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lvl="1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lvl="2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lvl="3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lvl="4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lvl="5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lvl="6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lvl="7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lvl="8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bg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4">
          <p15:clr>
            <a:srgbClr val="A4A3A4"/>
          </p15:clr>
        </p15:guide>
        <p15:guide id="2" orient="horz" pos="992">
          <p15:clr>
            <a:srgbClr val="A4A3A4"/>
          </p15:clr>
        </p15:guide>
        <p15:guide id="3" pos="6861">
          <p15:clr>
            <a:srgbClr val="A4A3A4"/>
          </p15:clr>
        </p15:guide>
        <p15:guide id="4" pos="5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777777"/>
    <a:srgbClr val="FFC5B7"/>
    <a:srgbClr val="8EC6E2"/>
    <a:srgbClr val="AED6EA"/>
    <a:srgbClr val="52A7D2"/>
    <a:srgbClr val="006699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/>
    <p:restoredTop sz="73431" autoAdjust="0"/>
  </p:normalViewPr>
  <p:slideViewPr>
    <p:cSldViewPr snapToGrid="0" showGuides="1">
      <p:cViewPr varScale="1">
        <p:scale>
          <a:sx n="52" d="100"/>
          <a:sy n="52" d="100"/>
        </p:scale>
        <p:origin x="1116" y="78"/>
      </p:cViewPr>
      <p:guideLst>
        <p:guide orient="horz" pos="614"/>
        <p:guide orient="horz" pos="992"/>
        <p:guide pos="6861"/>
        <p:guide pos="5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t" anchorCtr="0" compatLnSpc="1"/>
          <a:lstStyle>
            <a:lvl1pPr algn="l" defTabSz="968375" eaLnBrk="1" hangingPunct="1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68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t" anchorCtr="0" compatLnSpc="1"/>
          <a:lstStyle>
            <a:lvl1pPr algn="r" defTabSz="968375" eaLnBrk="1" hangingPunct="1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68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b" anchorCtr="0" compatLnSpc="1"/>
          <a:lstStyle>
            <a:lvl1pPr algn="l" defTabSz="968375" eaLnBrk="1" hangingPunct="1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68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b" anchorCtr="0" compatLnSpc="1"/>
          <a:lstStyle/>
          <a:p>
            <a:pPr lvl="0" algn="r" defTabSz="968375" eaLnBrk="1" hangingPunct="1">
              <a:buNone/>
            </a:pPr>
            <a:fld id="{9A0DB2DC-4C9A-4742-B13C-FB6460FD3503}" type="slidenum">
              <a:rPr lang="en-US" altLang="zh-CN" sz="130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en-US" altLang="zh-CN" sz="13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2502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176" y="1047750"/>
            <a:ext cx="6098823" cy="34305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44588" y="4643438"/>
            <a:ext cx="45720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300"/>
              </a:spcAft>
              <a:buClrTx/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Next LT Regular" pitchFamily="34" charset="0"/>
                <a:ea typeface="华文细黑" panose="02010600040101010101" pitchFamily="2" charset="-122"/>
                <a:cs typeface="+mn-cs"/>
              </a:rPr>
              <a:t>单击此处编辑母版文本样式</a:t>
            </a:r>
          </a:p>
          <a:p>
            <a:pPr marL="447675" marR="0" lvl="1" indent="-180975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300"/>
              </a:spcAft>
              <a:buClrTx/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Next LT Regular" pitchFamily="34" charset="0"/>
                <a:ea typeface="华文细黑" panose="02010600040101010101" pitchFamily="2" charset="-122"/>
                <a:cs typeface="+mn-cs"/>
              </a:rPr>
              <a:t>第二级</a:t>
            </a:r>
          </a:p>
          <a:p>
            <a:pPr marL="895350" marR="0" lvl="2" indent="-180975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300"/>
              </a:spcAft>
              <a:buClrTx/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Next LT Regular" pitchFamily="34" charset="0"/>
                <a:ea typeface="华文细黑" panose="02010600040101010101" pitchFamily="2" charset="-122"/>
                <a:cs typeface="+mn-cs"/>
              </a:rPr>
              <a:t>第三级</a:t>
            </a:r>
          </a:p>
          <a:p>
            <a:pPr marL="1162050" marR="0" lvl="3" indent="0" algn="l" defTabSz="914400" rtl="0" eaLnBrk="0" fontAlgn="base" latinLnBrk="0" hangingPunct="0">
              <a:lnSpc>
                <a:spcPct val="125000"/>
              </a:lnSpc>
              <a:spcBef>
                <a:spcPct val="30000"/>
              </a:spcBef>
              <a:spcAft>
                <a:spcPts val="3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Next LT Regular" pitchFamily="34" charset="0"/>
                <a:ea typeface="华文细黑" panose="0201060004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25000"/>
              </a:lnSpc>
              <a:spcBef>
                <a:spcPct val="300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Next LT Regular" pitchFamily="34" charset="0"/>
                <a:ea typeface="华文细黑" panose="02010600040101010101" pitchFamily="2" charset="-122"/>
                <a:cs typeface="+mn-cs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093853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125000"/>
      </a:lnSpc>
      <a:spcBef>
        <a:spcPct val="0"/>
      </a:spcBef>
      <a:spcAft>
        <a:spcPts val="300"/>
      </a:spcAft>
      <a:buSzPct val="70000"/>
      <a:buFont typeface="Wingdings" panose="05000000000000000000" pitchFamily="2" charset="2"/>
      <a:defRPr sz="1100" kern="1200">
        <a:solidFill>
          <a:schemeClr val="tx1"/>
        </a:solidFill>
        <a:latin typeface="FrutigerNext LT Regular" pitchFamily="34" charset="0"/>
        <a:ea typeface="华文细黑" panose="02010600040101010101" pitchFamily="2" charset="-122"/>
        <a:cs typeface="+mn-cs"/>
      </a:defRPr>
    </a:lvl1pPr>
    <a:lvl2pPr marL="447675" indent="-180975" algn="l" rtl="0" eaLnBrk="0" fontAlgn="base" hangingPunct="0">
      <a:lnSpc>
        <a:spcPct val="125000"/>
      </a:lnSpc>
      <a:spcBef>
        <a:spcPct val="0"/>
      </a:spcBef>
      <a:spcAft>
        <a:spcPts val="300"/>
      </a:spcAft>
      <a:buSzPct val="50000"/>
      <a:buFont typeface="Wingdings" panose="05000000000000000000" pitchFamily="2" charset="2"/>
      <a:buChar char="l"/>
      <a:defRPr sz="1100" kern="1200">
        <a:solidFill>
          <a:schemeClr val="tx1"/>
        </a:solidFill>
        <a:latin typeface="FrutigerNext LT Regular" pitchFamily="34" charset="0"/>
        <a:ea typeface="华文细黑" panose="02010600040101010101" pitchFamily="2" charset="-122"/>
        <a:cs typeface="+mn-cs"/>
      </a:defRPr>
    </a:lvl2pPr>
    <a:lvl3pPr marL="895350" indent="-180975" algn="l" rtl="0" eaLnBrk="0" fontAlgn="base" hangingPunct="0">
      <a:lnSpc>
        <a:spcPct val="125000"/>
      </a:lnSpc>
      <a:spcBef>
        <a:spcPct val="0"/>
      </a:spcBef>
      <a:spcAft>
        <a:spcPts val="300"/>
      </a:spcAft>
      <a:buSzPct val="50000"/>
      <a:buFont typeface="Wingdings" panose="05000000000000000000" pitchFamily="2" charset="2"/>
      <a:buChar char="n"/>
      <a:defRPr sz="1100" kern="1200">
        <a:solidFill>
          <a:schemeClr val="tx1"/>
        </a:solidFill>
        <a:latin typeface="FrutigerNext LT Regular" pitchFamily="34" charset="0"/>
        <a:ea typeface="华文细黑" panose="02010600040101010101" pitchFamily="2" charset="-122"/>
        <a:cs typeface="+mn-cs"/>
      </a:defRPr>
    </a:lvl3pPr>
    <a:lvl4pPr marL="1162050" algn="l" rtl="0" eaLnBrk="0" fontAlgn="base" hangingPunct="0">
      <a:lnSpc>
        <a:spcPct val="125000"/>
      </a:lnSpc>
      <a:spcBef>
        <a:spcPct val="30000"/>
      </a:spcBef>
      <a:spcAft>
        <a:spcPts val="300"/>
      </a:spcAft>
      <a:buChar char="•"/>
      <a:defRPr sz="1100" kern="1200">
        <a:solidFill>
          <a:schemeClr val="tx1"/>
        </a:solidFill>
        <a:latin typeface="FrutigerNext LT Regular" pitchFamily="34" charset="0"/>
        <a:ea typeface="华文细黑" panose="02010600040101010101" pitchFamily="2" charset="-122"/>
        <a:cs typeface="+mn-cs"/>
      </a:defRPr>
    </a:lvl4pPr>
    <a:lvl5pPr marL="1828800" algn="l" rtl="0" eaLnBrk="0" fontAlgn="base" hangingPunct="0">
      <a:lnSpc>
        <a:spcPct val="125000"/>
      </a:lnSpc>
      <a:spcBef>
        <a:spcPct val="30000"/>
      </a:spcBef>
      <a:spcAft>
        <a:spcPts val="300"/>
      </a:spcAft>
      <a:defRPr sz="1100" kern="1200">
        <a:solidFill>
          <a:schemeClr val="tx1"/>
        </a:solidFill>
        <a:latin typeface="FrutigerNext LT Regular" pitchFamily="34" charset="0"/>
        <a:ea typeface="华文细黑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52227" name="备注占位符 7"/>
          <p:cNvSpPr>
            <a:spLocks noGrp="1"/>
          </p:cNvSpPr>
          <p:nvPr>
            <p:ph type="body" idx="1"/>
          </p:nvPr>
        </p:nvSpPr>
        <p:spPr/>
        <p:txBody>
          <a:bodyPr wrap="square" lIns="96791" tIns="48396" rIns="96791" bIns="48396" anchor="t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559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option code [ sub-option sub-code ] { </a:t>
            </a:r>
            <a:r>
              <a:rPr lang="en-US" altLang="zh-CN" dirty="0" err="1" smtClean="0"/>
              <a:t>ascii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ascii</a:t>
            </a:r>
            <a:r>
              <a:rPr lang="en-US" altLang="zh-CN" dirty="0" smtClean="0"/>
              <a:t>-string | hex hex-string | cipher cipher-string |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-address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-address</a:t>
            </a:r>
          </a:p>
          <a:p>
            <a:r>
              <a:rPr lang="en-US" altLang="zh-CN" dirty="0" smtClean="0"/>
              <a:t> ▫ code</a:t>
            </a:r>
            <a:r>
              <a:rPr lang="zh-CN" altLang="en-US" dirty="0" smtClean="0"/>
              <a:t>：指定自定义选项</a:t>
            </a:r>
            <a:r>
              <a:rPr lang="en-US" altLang="zh-CN" dirty="0" smtClean="0"/>
              <a:t>Option</a:t>
            </a:r>
            <a:r>
              <a:rPr lang="zh-CN" altLang="en-US" dirty="0" smtClean="0"/>
              <a:t>的数值。整数形式，取值范围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254</a:t>
            </a:r>
            <a:r>
              <a:rPr lang="zh-CN" altLang="en-US" dirty="0" smtClean="0"/>
              <a:t>，但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15</a:t>
            </a:r>
            <a:r>
              <a:rPr lang="zh-CN" altLang="en-US" dirty="0" smtClean="0"/>
              <a:t>、 </a:t>
            </a:r>
            <a:r>
              <a:rPr lang="en-US" altLang="zh-CN" dirty="0" smtClean="0"/>
              <a:t>44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46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82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121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184</a:t>
            </a:r>
            <a:r>
              <a:rPr lang="zh-CN" altLang="en-US" dirty="0" smtClean="0"/>
              <a:t>不能配置。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sub-option sub-code</a:t>
            </a:r>
            <a:r>
              <a:rPr lang="zh-CN" altLang="en-US" dirty="0" smtClean="0"/>
              <a:t>：指定自定义的</a:t>
            </a:r>
            <a:r>
              <a:rPr lang="en-US" altLang="zh-CN" dirty="0" smtClean="0"/>
              <a:t>Option</a:t>
            </a:r>
            <a:r>
              <a:rPr lang="zh-CN" altLang="en-US" dirty="0" smtClean="0"/>
              <a:t>子选项的数值。整数形式，取值范围是 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254</a:t>
            </a:r>
            <a:r>
              <a:rPr lang="zh-CN" altLang="en-US" dirty="0" smtClean="0"/>
              <a:t>。知名选项请参考</a:t>
            </a:r>
            <a:r>
              <a:rPr lang="en-US" altLang="zh-CN" dirty="0" smtClean="0"/>
              <a:t>RFC2132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ascii</a:t>
            </a:r>
            <a:r>
              <a:rPr lang="en-US" altLang="zh-CN" dirty="0" smtClean="0"/>
              <a:t> | hex | cipher</a:t>
            </a:r>
            <a:r>
              <a:rPr lang="zh-CN" altLang="en-US" dirty="0" smtClean="0"/>
              <a:t>：指定自定义的选项码为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字符串类型，或十六进制字符串类 型，或密文字符串类型。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-address 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-address</a:t>
            </a:r>
            <a:r>
              <a:rPr lang="zh-CN" altLang="en-US" dirty="0" smtClean="0"/>
              <a:t>：指定自定义的选项码为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地址类型。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regulatory-domain-profile name profile-name</a:t>
            </a:r>
          </a:p>
          <a:p>
            <a:r>
              <a:rPr lang="en-US" altLang="zh-CN" dirty="0" smtClean="0"/>
              <a:t> ▫ name profile-name</a:t>
            </a:r>
            <a:r>
              <a:rPr lang="zh-CN" altLang="en-US" dirty="0" smtClean="0"/>
              <a:t>：指定域管理模板的名称。字符串类型，不区分大小写，可输入 的字符串长度为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35</a:t>
            </a:r>
            <a:r>
              <a:rPr lang="zh-CN" altLang="en-US" dirty="0" smtClean="0"/>
              <a:t>个字符。可见字符，不能包含“</a:t>
            </a:r>
            <a:r>
              <a:rPr lang="en-US" altLang="zh-CN" dirty="0" smtClean="0"/>
              <a:t>?”</a:t>
            </a:r>
            <a:r>
              <a:rPr lang="zh-CN" altLang="en-US" dirty="0" smtClean="0"/>
              <a:t>和空格，双引号不能出现在 字符串的首尾。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country-code </a:t>
            </a:r>
            <a:r>
              <a:rPr lang="en-US" altLang="zh-CN" dirty="0" err="1" smtClean="0"/>
              <a:t>country-code</a:t>
            </a:r>
            <a:r>
              <a:rPr lang="en-US" altLang="zh-CN" dirty="0" smtClean="0"/>
              <a:t> ▫ country-code</a:t>
            </a:r>
            <a:r>
              <a:rPr lang="zh-CN" altLang="en-US" dirty="0" smtClean="0"/>
              <a:t>：指定设备的国家码标识。字符串格式，枚举类型。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AC</a:t>
            </a:r>
            <a:r>
              <a:rPr lang="zh-CN" altLang="en-US" dirty="0" smtClean="0"/>
              <a:t>支持的国家码有很多，如： ▫ </a:t>
            </a:r>
            <a:r>
              <a:rPr lang="en-US" altLang="zh-CN" dirty="0" smtClean="0"/>
              <a:t>CN </a:t>
            </a:r>
            <a:r>
              <a:rPr lang="zh-CN" altLang="en-US" dirty="0" smtClean="0"/>
              <a:t>中国（缺省值） ▫ </a:t>
            </a:r>
            <a:r>
              <a:rPr lang="en-US" altLang="zh-CN" dirty="0" smtClean="0"/>
              <a:t>AU </a:t>
            </a:r>
            <a:r>
              <a:rPr lang="zh-CN" altLang="en-US" dirty="0" smtClean="0"/>
              <a:t>澳大利亚 ▫ </a:t>
            </a:r>
            <a:r>
              <a:rPr lang="en-US" altLang="zh-CN" dirty="0" smtClean="0"/>
              <a:t>CA </a:t>
            </a:r>
            <a:r>
              <a:rPr lang="zh-CN" altLang="en-US" dirty="0" smtClean="0"/>
              <a:t>加拿大 ▫ </a:t>
            </a:r>
            <a:r>
              <a:rPr lang="en-US" altLang="zh-CN" dirty="0" smtClean="0"/>
              <a:t>DE </a:t>
            </a:r>
            <a:r>
              <a:rPr lang="zh-CN" altLang="en-US" dirty="0" smtClean="0"/>
              <a:t>德国 ▫ </a:t>
            </a:r>
            <a:r>
              <a:rPr lang="en-US" altLang="zh-CN" dirty="0" smtClean="0"/>
              <a:t>FR </a:t>
            </a:r>
            <a:r>
              <a:rPr lang="zh-CN" altLang="en-US" dirty="0" smtClean="0"/>
              <a:t>法国 ▫ </a:t>
            </a:r>
            <a:r>
              <a:rPr lang="en-US" altLang="zh-CN" dirty="0" smtClean="0"/>
              <a:t>US </a:t>
            </a:r>
            <a:r>
              <a:rPr lang="zh-CN" altLang="en-US" dirty="0" smtClean="0"/>
              <a:t>美国 ▫ </a:t>
            </a:r>
            <a:r>
              <a:rPr lang="en-US" altLang="zh-CN" dirty="0" smtClean="0"/>
              <a:t>……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69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-group name group-name</a:t>
            </a:r>
          </a:p>
          <a:p>
            <a:r>
              <a:rPr lang="en-US" altLang="zh-CN" dirty="0" smtClean="0"/>
              <a:t> ▫ name group-name</a:t>
            </a:r>
            <a:r>
              <a:rPr lang="zh-CN" altLang="en-US" dirty="0" smtClean="0"/>
              <a:t>：指定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组的名称。字符串类型，可输入的字符串长度为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35 </a:t>
            </a:r>
            <a:r>
              <a:rPr lang="zh-CN" altLang="en-US" dirty="0" smtClean="0"/>
              <a:t>个字符。可见字符，不能包含“</a:t>
            </a:r>
            <a:r>
              <a:rPr lang="en-US" altLang="zh-CN" dirty="0" smtClean="0"/>
              <a:t>?”</a:t>
            </a:r>
            <a:r>
              <a:rPr lang="zh-CN" altLang="en-US" dirty="0" smtClean="0"/>
              <a:t>、“</a:t>
            </a:r>
            <a:r>
              <a:rPr lang="en-US" altLang="zh-CN" dirty="0" smtClean="0"/>
              <a:t>/”</a:t>
            </a:r>
            <a:r>
              <a:rPr lang="zh-CN" altLang="en-US" dirty="0" smtClean="0"/>
              <a:t>和空格，双引号不能出现在字符串的首尾。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334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 [ [ type-id </a:t>
            </a:r>
            <a:r>
              <a:rPr lang="en-US" altLang="zh-CN" dirty="0" err="1" smtClean="0"/>
              <a:t>type-id</a:t>
            </a:r>
            <a:r>
              <a:rPr lang="en-US" altLang="zh-CN" dirty="0" smtClean="0"/>
              <a:t> |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-type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-type ] {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 | </a:t>
            </a:r>
            <a:r>
              <a:rPr lang="en-US" altLang="zh-CN" dirty="0" err="1" smtClean="0"/>
              <a:t>ap-sn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apsn</a:t>
            </a:r>
            <a:r>
              <a:rPr lang="en-US" altLang="zh-CN" dirty="0" smtClean="0"/>
              <a:t> |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 </a:t>
            </a:r>
            <a:r>
              <a:rPr lang="en-US" altLang="zh-CN" dirty="0" err="1" smtClean="0"/>
              <a:t>ap-sn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ap-sn</a:t>
            </a:r>
            <a:r>
              <a:rPr lang="en-US" altLang="zh-CN" dirty="0" smtClean="0"/>
              <a:t> } ]</a:t>
            </a:r>
          </a:p>
          <a:p>
            <a:r>
              <a:rPr lang="en-US" altLang="zh-CN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设备索引。整数类型，取值范围：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8191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type-id </a:t>
            </a:r>
            <a:r>
              <a:rPr lang="en-US" altLang="zh-CN" dirty="0" err="1" smtClean="0"/>
              <a:t>type-id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设备类型索引。整数类型，取值范围：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255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-type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-type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设备类型。字符串类型，取值范围为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31</a:t>
            </a:r>
            <a:r>
              <a:rPr lang="zh-CN" altLang="en-US" dirty="0" smtClean="0"/>
              <a:t>个字符。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-mac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地址。格式为</a:t>
            </a:r>
            <a:r>
              <a:rPr lang="en-US" altLang="zh-CN" dirty="0" smtClean="0"/>
              <a:t>H-H-H</a:t>
            </a:r>
            <a:r>
              <a:rPr lang="zh-CN" altLang="en-US" dirty="0" smtClean="0"/>
              <a:t>，其中</a:t>
            </a:r>
            <a:r>
              <a:rPr lang="en-US" altLang="zh-CN" dirty="0" smtClean="0"/>
              <a:t>H</a:t>
            </a:r>
            <a:r>
              <a:rPr lang="zh-CN" altLang="en-US" dirty="0" smtClean="0"/>
              <a:t>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位的十六进制数。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ap-sn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ap-sn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的序列号。字符串类型，取值范围为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31</a:t>
            </a:r>
            <a:r>
              <a:rPr lang="zh-CN" altLang="en-US" dirty="0" smtClean="0"/>
              <a:t>个字符，只能包括字母 和数字。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265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radio radio-id ▫ radio-id</a:t>
            </a:r>
            <a:r>
              <a:rPr lang="zh-CN" altLang="en-US" dirty="0" smtClean="0"/>
              <a:t>：射频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。必须是已存在的射频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channel { 20mhz | 40mhz-minus | 40mhz-plus | 80mhz | 160mhz } channel</a:t>
            </a:r>
          </a:p>
          <a:p>
            <a:r>
              <a:rPr lang="en-US" altLang="zh-CN" dirty="0" smtClean="0"/>
              <a:t> ▫ channel 80+80mhz channel1 channel2 ▫ 20mhz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20MHz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40mhz-minus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40MHz Minus</a:t>
            </a:r>
            <a:r>
              <a:rPr lang="zh-CN" altLang="en-US" dirty="0" smtClean="0"/>
              <a:t>。 ▫ </a:t>
            </a:r>
            <a:r>
              <a:rPr lang="en-US" altLang="zh-CN" dirty="0" smtClean="0"/>
              <a:t>40mhz-plus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40MHz Plus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80mhz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80MHz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160mhz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160MHz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80+80mhz</a:t>
            </a:r>
            <a:r>
              <a:rPr lang="zh-CN" altLang="en-US" dirty="0" smtClean="0"/>
              <a:t>：指定射频的工作带宽为</a:t>
            </a:r>
            <a:r>
              <a:rPr lang="en-US" altLang="zh-CN" dirty="0" smtClean="0"/>
              <a:t>80+80MHz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channel/channel1/channel2</a:t>
            </a:r>
            <a:r>
              <a:rPr lang="zh-CN" altLang="en-US" dirty="0" smtClean="0"/>
              <a:t>：指定射频的工作信道，信道基于国家代码和射频模式 来进行选择。枚举值类型，取值范围根据国家代码和射频模式来进行选择。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antenna-gain </a:t>
            </a:r>
            <a:r>
              <a:rPr lang="en-US" altLang="zh-CN" dirty="0" err="1" smtClean="0"/>
              <a:t>antenna-gain</a:t>
            </a:r>
            <a:endParaRPr lang="en-US" altLang="zh-CN" dirty="0" smtClean="0"/>
          </a:p>
          <a:p>
            <a:r>
              <a:rPr lang="en-US" altLang="zh-CN" dirty="0" smtClean="0"/>
              <a:t> ▫ antenna-gain</a:t>
            </a:r>
            <a:r>
              <a:rPr lang="zh-CN" altLang="en-US" dirty="0" smtClean="0"/>
              <a:t>：天线增益。整数类型，取值范围：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30</a:t>
            </a:r>
            <a:r>
              <a:rPr lang="zh-CN" altLang="en-US" dirty="0" smtClean="0"/>
              <a:t>，单位：</a:t>
            </a:r>
            <a:r>
              <a:rPr lang="en-US" altLang="zh-CN" dirty="0" smtClean="0"/>
              <a:t>dB</a:t>
            </a:r>
            <a:r>
              <a:rPr lang="zh-CN" altLang="en-US" dirty="0" smtClean="0"/>
              <a:t>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978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err="1" smtClean="0"/>
              <a:t>eirp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eirp</a:t>
            </a:r>
            <a:endParaRPr lang="en-US" altLang="zh-CN" dirty="0" smtClean="0"/>
          </a:p>
          <a:p>
            <a:r>
              <a:rPr lang="en-US" altLang="zh-CN" dirty="0" smtClean="0"/>
              <a:t> ▫ </a:t>
            </a:r>
            <a:r>
              <a:rPr lang="en-US" altLang="zh-CN" dirty="0" err="1" smtClean="0"/>
              <a:t>eirp</a:t>
            </a:r>
            <a:r>
              <a:rPr lang="zh-CN" altLang="en-US" dirty="0" smtClean="0"/>
              <a:t>：发射功率值。整数形式，取值范围是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127</a:t>
            </a:r>
            <a:r>
              <a:rPr lang="zh-CN" altLang="en-US" dirty="0" smtClean="0"/>
              <a:t>，单位：</a:t>
            </a:r>
            <a:r>
              <a:rPr lang="en-US" altLang="zh-CN" dirty="0" err="1" smtClean="0"/>
              <a:t>dBm</a:t>
            </a:r>
            <a:r>
              <a:rPr lang="zh-CN" altLang="en-US" dirty="0" smtClean="0"/>
              <a:t>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coverage distance </a:t>
            </a:r>
            <a:r>
              <a:rPr lang="en-US" altLang="zh-CN" dirty="0" err="1" smtClean="0"/>
              <a:t>distance</a:t>
            </a:r>
            <a:endParaRPr lang="en-US" altLang="zh-CN" dirty="0" smtClean="0"/>
          </a:p>
          <a:p>
            <a:r>
              <a:rPr lang="en-US" altLang="zh-CN" dirty="0" smtClean="0"/>
              <a:t> ▫ distance</a:t>
            </a:r>
            <a:r>
              <a:rPr lang="zh-CN" altLang="en-US" dirty="0" smtClean="0"/>
              <a:t>：射频覆盖距离参数。每个射频覆盖距离参数对应一组</a:t>
            </a:r>
            <a:r>
              <a:rPr lang="en-US" altLang="zh-CN" dirty="0" err="1" smtClean="0"/>
              <a:t>slottime</a:t>
            </a:r>
            <a:r>
              <a:rPr lang="zh-CN" altLang="en-US" dirty="0" smtClean="0"/>
              <a:t>、 </a:t>
            </a:r>
            <a:r>
              <a:rPr lang="en-US" altLang="zh-CN" dirty="0" err="1" smtClean="0"/>
              <a:t>acktimeout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ctstimeout</a:t>
            </a:r>
            <a:r>
              <a:rPr lang="zh-CN" altLang="en-US" dirty="0" smtClean="0"/>
              <a:t>数值。根据</a:t>
            </a:r>
            <a:r>
              <a:rPr lang="en-US" altLang="zh-CN" dirty="0" smtClean="0"/>
              <a:t>AP</a:t>
            </a:r>
            <a:r>
              <a:rPr lang="zh-CN" altLang="en-US" dirty="0" smtClean="0"/>
              <a:t>间的实际距离配置射频覆盖距离参数后，</a:t>
            </a:r>
            <a:r>
              <a:rPr lang="en-US" altLang="zh-CN" dirty="0" smtClean="0"/>
              <a:t>AP </a:t>
            </a:r>
            <a:r>
              <a:rPr lang="zh-CN" altLang="en-US" dirty="0" smtClean="0"/>
              <a:t>设备根据此参数值调整对应的</a:t>
            </a:r>
            <a:r>
              <a:rPr lang="en-US" altLang="zh-CN" dirty="0" err="1" smtClean="0"/>
              <a:t>slottime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acktimeout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ctstimeout</a:t>
            </a:r>
            <a:r>
              <a:rPr lang="zh-CN" altLang="en-US" dirty="0" smtClean="0"/>
              <a:t>数值。整数类型， 取值范围：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400</a:t>
            </a:r>
            <a:r>
              <a:rPr lang="zh-CN" altLang="en-US" dirty="0" smtClean="0"/>
              <a:t>，单位为</a:t>
            </a:r>
            <a:r>
              <a:rPr lang="en-US" altLang="zh-CN" dirty="0" smtClean="0"/>
              <a:t>100m</a:t>
            </a:r>
            <a:r>
              <a:rPr lang="zh-CN" altLang="en-US" dirty="0" smtClean="0"/>
              <a:t>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frequency { 2.4g | 5g }</a:t>
            </a:r>
          </a:p>
          <a:p>
            <a:r>
              <a:rPr lang="en-US" altLang="zh-CN" dirty="0" smtClean="0"/>
              <a:t> ▫ </a:t>
            </a:r>
            <a:r>
              <a:rPr lang="zh-CN" altLang="en-US" dirty="0" smtClean="0"/>
              <a:t>缺省情况下，射频</a:t>
            </a:r>
            <a:r>
              <a:rPr lang="en-US" altLang="zh-CN" dirty="0" smtClean="0"/>
              <a:t>0</a:t>
            </a:r>
            <a:r>
              <a:rPr lang="zh-CN" altLang="en-US" dirty="0" smtClean="0"/>
              <a:t>工作在</a:t>
            </a:r>
            <a:r>
              <a:rPr lang="en-US" altLang="zh-CN" dirty="0" smtClean="0"/>
              <a:t>2.4GHz</a:t>
            </a:r>
            <a:r>
              <a:rPr lang="zh-CN" altLang="en-US" dirty="0" smtClean="0"/>
              <a:t>频段，射频</a:t>
            </a:r>
            <a:r>
              <a:rPr lang="en-US" altLang="zh-CN" dirty="0" smtClean="0"/>
              <a:t>2</a:t>
            </a:r>
            <a:r>
              <a:rPr lang="zh-CN" altLang="en-US" dirty="0" smtClean="0"/>
              <a:t>工作在</a:t>
            </a:r>
            <a:r>
              <a:rPr lang="en-US" altLang="zh-CN" dirty="0" smtClean="0"/>
              <a:t>5GHz</a:t>
            </a:r>
            <a:r>
              <a:rPr lang="zh-CN" altLang="en-US" dirty="0" smtClean="0"/>
              <a:t>频段。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062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radio-2g-profile name profile-name</a:t>
            </a:r>
          </a:p>
          <a:p>
            <a:r>
              <a:rPr lang="en-US" altLang="zh-CN" dirty="0" smtClean="0"/>
              <a:t> ▫ name profile-name</a:t>
            </a:r>
            <a:r>
              <a:rPr lang="zh-CN" altLang="en-US" dirty="0" smtClean="0"/>
              <a:t>：指定</a:t>
            </a:r>
            <a:r>
              <a:rPr lang="en-US" altLang="zh-CN" dirty="0" smtClean="0"/>
              <a:t>2G</a:t>
            </a:r>
            <a:r>
              <a:rPr lang="zh-CN" altLang="en-US" dirty="0" smtClean="0"/>
              <a:t>射频模板的名称。字符串类型，不区分大小写，可输入 的字符串长度为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35</a:t>
            </a:r>
            <a:r>
              <a:rPr lang="zh-CN" altLang="en-US" dirty="0" smtClean="0"/>
              <a:t>个字符。可见字符，不能包含“</a:t>
            </a:r>
            <a:r>
              <a:rPr lang="en-US" altLang="zh-CN" dirty="0" smtClean="0"/>
              <a:t>?”</a:t>
            </a:r>
            <a:r>
              <a:rPr lang="zh-CN" altLang="en-US" dirty="0" smtClean="0"/>
              <a:t>和空格，双引号不能出现在 字符串的首尾。</a:t>
            </a:r>
            <a:endParaRPr lang="en-US" altLang="zh-CN" dirty="0" smtClean="0"/>
          </a:p>
          <a:p>
            <a:r>
              <a:rPr lang="zh-CN" altLang="en-US" dirty="0" smtClean="0"/>
              <a:t> ▫ 缺省情况下，系统上存在名为</a:t>
            </a:r>
            <a:r>
              <a:rPr lang="en-US" altLang="zh-CN" dirty="0" smtClean="0"/>
              <a:t>default</a:t>
            </a:r>
            <a:r>
              <a:rPr lang="zh-CN" altLang="en-US" dirty="0" smtClean="0"/>
              <a:t>的</a:t>
            </a:r>
            <a:r>
              <a:rPr lang="en-US" altLang="zh-CN" dirty="0" smtClean="0"/>
              <a:t>2G</a:t>
            </a:r>
            <a:r>
              <a:rPr lang="zh-CN" altLang="en-US" dirty="0" smtClean="0"/>
              <a:t>射频模板。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radio-2g-profile profile-name radio { radio-id | all }</a:t>
            </a:r>
          </a:p>
          <a:p>
            <a:r>
              <a:rPr lang="en-US" altLang="zh-CN" dirty="0" smtClean="0"/>
              <a:t> ▫ profile-name</a:t>
            </a:r>
            <a:r>
              <a:rPr lang="zh-CN" altLang="en-US" dirty="0" smtClean="0"/>
              <a:t>：指定</a:t>
            </a:r>
            <a:r>
              <a:rPr lang="en-US" altLang="zh-CN" dirty="0" smtClean="0"/>
              <a:t>2G</a:t>
            </a:r>
            <a:r>
              <a:rPr lang="zh-CN" altLang="en-US" dirty="0" smtClean="0"/>
              <a:t>射频模板的名称。必须是已存在的</a:t>
            </a:r>
            <a:r>
              <a:rPr lang="en-US" altLang="zh-CN" dirty="0" smtClean="0"/>
              <a:t>2G</a:t>
            </a:r>
            <a:r>
              <a:rPr lang="zh-CN" altLang="en-US" dirty="0" smtClean="0"/>
              <a:t>射频模板名称。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radio radio-id</a:t>
            </a:r>
            <a:r>
              <a:rPr lang="zh-CN" altLang="en-US" dirty="0" smtClean="0"/>
              <a:t>：指定射频的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。整数类型，取值范围：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radio all</a:t>
            </a:r>
            <a:r>
              <a:rPr lang="zh-CN" altLang="en-US" dirty="0" smtClean="0"/>
              <a:t>：指定所有的射频。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7993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691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151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ssid</a:t>
            </a:r>
            <a:endParaRPr lang="en-US" altLang="zh-CN" dirty="0" smtClean="0"/>
          </a:p>
          <a:p>
            <a:r>
              <a:rPr lang="en-US" altLang="zh-CN" dirty="0" smtClean="0"/>
              <a:t> ▫ </a:t>
            </a:r>
            <a:r>
              <a:rPr lang="en-US" altLang="zh-CN" dirty="0" err="1" smtClean="0"/>
              <a:t>ssid</a:t>
            </a:r>
            <a:r>
              <a:rPr lang="zh-CN" altLang="en-US" dirty="0" smtClean="0"/>
              <a:t>：指定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的名称。文本类型，区分大小写，可输入的字符串长度为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32</a:t>
            </a:r>
            <a:r>
              <a:rPr lang="zh-CN" altLang="en-US" dirty="0" smtClean="0"/>
              <a:t>字符， 支持中文字符，也支持中英文字符混合，不支持制表符。</a:t>
            </a:r>
            <a:endParaRPr lang="en-US" altLang="zh-CN" dirty="0" smtClean="0"/>
          </a:p>
          <a:p>
            <a:r>
              <a:rPr lang="zh-CN" altLang="en-US" dirty="0" smtClean="0"/>
              <a:t> ▫ 如果想设置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首字符为空格，则输入的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内容应该以“</a:t>
            </a:r>
            <a:r>
              <a:rPr lang="en-US" altLang="zh-CN" dirty="0" smtClean="0"/>
              <a:t>"”</a:t>
            </a:r>
            <a:r>
              <a:rPr lang="zh-CN" altLang="en-US" dirty="0" smtClean="0"/>
              <a:t>开头以“</a:t>
            </a:r>
            <a:r>
              <a:rPr lang="en-US" altLang="zh-CN" dirty="0" smtClean="0"/>
              <a:t>"”</a:t>
            </a:r>
            <a:r>
              <a:rPr lang="zh-CN" altLang="en-US" dirty="0" smtClean="0"/>
              <a:t>结束，如</a:t>
            </a:r>
            <a:r>
              <a:rPr lang="en-US" altLang="zh-CN" dirty="0" smtClean="0"/>
              <a:t>" hello"</a:t>
            </a:r>
            <a:r>
              <a:rPr lang="zh-CN" altLang="en-US" dirty="0" smtClean="0"/>
              <a:t>，其中前后的“</a:t>
            </a:r>
            <a:r>
              <a:rPr lang="en-US" altLang="zh-CN" dirty="0" smtClean="0"/>
              <a:t>"”</a:t>
            </a:r>
            <a:r>
              <a:rPr lang="zh-CN" altLang="en-US" dirty="0" smtClean="0"/>
              <a:t>占用两个字符。如果想设置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首字符为“</a:t>
            </a:r>
            <a:r>
              <a:rPr lang="en-US" altLang="zh-CN" dirty="0" smtClean="0"/>
              <a:t>"”</a:t>
            </a:r>
            <a:r>
              <a:rPr lang="zh-CN" altLang="en-US" dirty="0" smtClean="0"/>
              <a:t>，则需要在“</a:t>
            </a:r>
            <a:r>
              <a:rPr lang="en-US" altLang="zh-CN" dirty="0" smtClean="0"/>
              <a:t>"” </a:t>
            </a:r>
            <a:r>
              <a:rPr lang="zh-CN" altLang="en-US" dirty="0" smtClean="0"/>
              <a:t>前输入转义字符“</a:t>
            </a:r>
            <a:r>
              <a:rPr lang="en-US" altLang="zh-CN" dirty="0" smtClean="0"/>
              <a:t>\”</a:t>
            </a:r>
            <a:r>
              <a:rPr lang="zh-CN" altLang="en-US" dirty="0" smtClean="0"/>
              <a:t>，如</a:t>
            </a:r>
            <a:r>
              <a:rPr lang="en-US" altLang="zh-CN" dirty="0" smtClean="0"/>
              <a:t>\"hello</a:t>
            </a:r>
            <a:r>
              <a:rPr lang="zh-CN" altLang="en-US" dirty="0" smtClean="0"/>
              <a:t>，其中“</a:t>
            </a:r>
            <a:r>
              <a:rPr lang="en-US" altLang="zh-CN" dirty="0" smtClean="0"/>
              <a:t>\”</a:t>
            </a:r>
            <a:r>
              <a:rPr lang="zh-CN" altLang="en-US" dirty="0" smtClean="0"/>
              <a:t>占用一个字符。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528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display </a:t>
            </a:r>
            <a:r>
              <a:rPr lang="en-US" altLang="zh-CN" dirty="0" err="1" smtClean="0"/>
              <a:t>vap</a:t>
            </a:r>
            <a:r>
              <a:rPr lang="en-US" altLang="zh-CN" dirty="0" smtClean="0"/>
              <a:t> {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-group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-group-name | {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-name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-name |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 } [ radio radio-id ] } [ 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]</a:t>
            </a:r>
          </a:p>
          <a:p>
            <a:r>
              <a:rPr lang="en-US" altLang="zh-CN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-group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-group-name</a:t>
            </a:r>
            <a:r>
              <a:rPr lang="zh-CN" altLang="en-US" dirty="0" smtClean="0"/>
              <a:t>：查看指定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组下的所有业务型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的相关信息。必须是 已存在的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-name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-name</a:t>
            </a:r>
            <a:r>
              <a:rPr lang="zh-CN" altLang="en-US" dirty="0" smtClean="0"/>
              <a:t>：查看指定名称的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的相关信息。必须是已存在的 </a:t>
            </a:r>
            <a:r>
              <a:rPr lang="en-US" altLang="zh-CN" dirty="0" smtClean="0"/>
              <a:t>AP</a:t>
            </a:r>
            <a:r>
              <a:rPr lang="zh-CN" altLang="en-US" dirty="0" smtClean="0"/>
              <a:t>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-id</a:t>
            </a:r>
            <a:r>
              <a:rPr lang="zh-CN" altLang="en-US" dirty="0" smtClean="0"/>
              <a:t>：查看指定</a:t>
            </a:r>
            <a:r>
              <a:rPr lang="en-US" altLang="zh-CN" dirty="0" smtClean="0"/>
              <a:t>ID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的相关信息。必须是已存在的</a:t>
            </a:r>
            <a:r>
              <a:rPr lang="en-US" altLang="zh-CN" dirty="0" smtClean="0"/>
              <a:t>AP 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radio radio-id</a:t>
            </a:r>
            <a:r>
              <a:rPr lang="zh-CN" altLang="en-US" dirty="0" smtClean="0"/>
              <a:t>：查看指定射频的业务型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的相关信息。整数类型，取值范围：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～ </a:t>
            </a:r>
            <a:r>
              <a:rPr lang="en-US" altLang="zh-CN" dirty="0" smtClean="0"/>
              <a:t>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ssid</a:t>
            </a:r>
            <a:r>
              <a:rPr lang="zh-CN" altLang="en-US" dirty="0" smtClean="0"/>
              <a:t>：查看指定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的业务型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的相关信息。必须是已存在的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命令：</a:t>
            </a:r>
            <a:r>
              <a:rPr lang="en-US" altLang="zh-CN" dirty="0" smtClean="0"/>
              <a:t>display </a:t>
            </a:r>
            <a:r>
              <a:rPr lang="en-US" altLang="zh-CN" dirty="0" err="1" smtClean="0"/>
              <a:t>vap</a:t>
            </a:r>
            <a:r>
              <a:rPr lang="en-US" altLang="zh-CN" dirty="0" smtClean="0"/>
              <a:t> { all | 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ssid</a:t>
            </a:r>
            <a:r>
              <a:rPr lang="en-US" altLang="zh-CN" dirty="0" smtClean="0"/>
              <a:t> }</a:t>
            </a:r>
          </a:p>
          <a:p>
            <a:r>
              <a:rPr lang="en-US" altLang="zh-CN" dirty="0" smtClean="0"/>
              <a:t> ▫ all</a:t>
            </a:r>
            <a:r>
              <a:rPr lang="zh-CN" altLang="en-US" dirty="0" smtClean="0"/>
              <a:t>：查看所有业务型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的相关信息。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594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业务需求</a:t>
            </a:r>
            <a:endParaRPr lang="en-US" altLang="zh-CN" dirty="0" smtClean="0"/>
          </a:p>
          <a:p>
            <a:r>
              <a:rPr lang="zh-CN" altLang="en-US" dirty="0" smtClean="0"/>
              <a:t> ▫ 企业用户通过</a:t>
            </a:r>
            <a:r>
              <a:rPr lang="en-US" altLang="zh-CN" dirty="0" smtClean="0"/>
              <a:t>WLAN</a:t>
            </a:r>
            <a:r>
              <a:rPr lang="zh-CN" altLang="en-US" dirty="0" smtClean="0"/>
              <a:t>接入网络，以满足移动办公的最基本需求。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组网需求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AC</a:t>
            </a:r>
            <a:r>
              <a:rPr lang="zh-CN" altLang="en-US" dirty="0" smtClean="0"/>
              <a:t>组网方式：旁挂二层组网。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部署方式：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AC</a:t>
            </a:r>
            <a:r>
              <a:rPr lang="zh-CN" altLang="en-US" dirty="0" smtClean="0"/>
              <a:t>作为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服务器为</a:t>
            </a:r>
            <a:r>
              <a:rPr lang="en-US" altLang="zh-CN" dirty="0" smtClean="0"/>
              <a:t>AP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r>
              <a:rPr lang="en-US" altLang="zh-CN" baseline="0" dirty="0" smtClean="0"/>
              <a:t>  </a:t>
            </a:r>
            <a:r>
              <a:rPr lang="zh-CN" altLang="en-US" dirty="0" smtClean="0"/>
              <a:t> ▪ 汇聚交换机</a:t>
            </a:r>
            <a:r>
              <a:rPr lang="en-US" altLang="zh-CN" dirty="0" smtClean="0"/>
              <a:t>S2</a:t>
            </a:r>
            <a:r>
              <a:rPr lang="zh-CN" altLang="en-US" dirty="0" smtClean="0"/>
              <a:t>作为</a:t>
            </a:r>
            <a:r>
              <a:rPr lang="en-US" altLang="zh-CN" dirty="0" smtClean="0"/>
              <a:t>DHCP</a:t>
            </a:r>
            <a:r>
              <a:rPr lang="zh-CN" altLang="en-US" dirty="0" smtClean="0"/>
              <a:t>服务器为</a:t>
            </a:r>
            <a:r>
              <a:rPr lang="en-US" altLang="zh-CN" dirty="0" smtClean="0"/>
              <a:t>STA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r>
              <a:rPr lang="zh-CN" altLang="en-US" dirty="0" smtClean="0"/>
              <a:t> ▫ 业务数据转发方式：隧道转发。 </a:t>
            </a:r>
            <a:endParaRPr lang="en-US" altLang="zh-CN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配置思路：</a:t>
            </a:r>
            <a:endParaRPr lang="en-US" altLang="zh-CN" dirty="0" smtClean="0"/>
          </a:p>
          <a:p>
            <a:r>
              <a:rPr lang="zh-CN" altLang="en-US" dirty="0" smtClean="0"/>
              <a:t> ▫ 配置</a:t>
            </a:r>
            <a:r>
              <a:rPr lang="en-US" altLang="zh-CN" dirty="0" smtClean="0"/>
              <a:t>AP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</a:t>
            </a:r>
            <a:r>
              <a:rPr lang="zh-CN" altLang="en-US" dirty="0" smtClean="0"/>
              <a:t>和周边网络设备之间实现网络互通。</a:t>
            </a:r>
            <a:endParaRPr lang="en-US" altLang="zh-CN" dirty="0" smtClean="0"/>
          </a:p>
          <a:p>
            <a:r>
              <a:rPr lang="zh-CN" altLang="en-US" dirty="0" smtClean="0"/>
              <a:t> ▫ 配置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上线。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创建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组，用于将需要进行相同配置的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都加入到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组，实现统一配置。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配置</a:t>
            </a:r>
            <a:r>
              <a:rPr lang="en-US" altLang="zh-CN" dirty="0" smtClean="0"/>
              <a:t>AC</a:t>
            </a:r>
            <a:r>
              <a:rPr lang="zh-CN" altLang="en-US" dirty="0" smtClean="0"/>
              <a:t>的系统参数，包括国家码、</a:t>
            </a:r>
            <a:r>
              <a:rPr lang="en-US" altLang="zh-CN" dirty="0" smtClean="0"/>
              <a:t>AC</a:t>
            </a:r>
            <a:r>
              <a:rPr lang="zh-CN" altLang="en-US" dirty="0" smtClean="0"/>
              <a:t>与</a:t>
            </a:r>
            <a:r>
              <a:rPr lang="en-US" altLang="zh-CN" dirty="0" smtClean="0"/>
              <a:t>AP</a:t>
            </a:r>
            <a:r>
              <a:rPr lang="zh-CN" altLang="en-US" dirty="0" smtClean="0"/>
              <a:t>之间通信的源接口。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配置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上线的认证方式并离线导入</a:t>
            </a:r>
            <a:r>
              <a:rPr lang="en-US" altLang="zh-CN" dirty="0" smtClean="0"/>
              <a:t>AP</a:t>
            </a:r>
            <a:r>
              <a:rPr lang="zh-CN" altLang="en-US" dirty="0" smtClean="0"/>
              <a:t>，实现</a:t>
            </a:r>
            <a:r>
              <a:rPr lang="en-US" altLang="zh-CN" dirty="0" smtClean="0"/>
              <a:t>AP</a:t>
            </a:r>
            <a:r>
              <a:rPr lang="zh-CN" altLang="en-US" dirty="0" smtClean="0"/>
              <a:t>正常上线。</a:t>
            </a:r>
            <a:endParaRPr lang="en-US" altLang="zh-CN" dirty="0" smtClean="0"/>
          </a:p>
          <a:p>
            <a:r>
              <a:rPr lang="zh-CN" altLang="en-US" dirty="0" smtClean="0"/>
              <a:t> ▫ 配置</a:t>
            </a:r>
            <a:r>
              <a:rPr lang="en-US" altLang="zh-CN" dirty="0" smtClean="0"/>
              <a:t>WLAN</a:t>
            </a:r>
            <a:r>
              <a:rPr lang="zh-CN" altLang="en-US" dirty="0" smtClean="0"/>
              <a:t>业务参数，实现</a:t>
            </a:r>
            <a:r>
              <a:rPr lang="en-US" altLang="zh-CN" dirty="0" smtClean="0"/>
              <a:t>STA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WLAN</a:t>
            </a:r>
            <a:r>
              <a:rPr lang="zh-CN" altLang="en-US" dirty="0" smtClean="0"/>
              <a:t>网络功能。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014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</a:t>
            </a:r>
            <a:r>
              <a:rPr lang="zh-CN" altLang="en-US" dirty="0" smtClean="0"/>
              <a:t>创建对应</a:t>
            </a:r>
            <a:r>
              <a:rPr lang="en-US" altLang="zh-CN" dirty="0" smtClean="0"/>
              <a:t>VLAN</a:t>
            </a:r>
            <a:r>
              <a:rPr lang="zh-CN" altLang="en-US" dirty="0" smtClean="0"/>
              <a:t>及接口。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S1</a:t>
            </a:r>
            <a:r>
              <a:rPr lang="zh-CN" altLang="en-US" dirty="0" smtClean="0"/>
              <a:t>配置： </a:t>
            </a:r>
            <a:endParaRPr lang="en-US" altLang="zh-CN" dirty="0" smtClean="0"/>
          </a:p>
          <a:p>
            <a:r>
              <a:rPr lang="en-US" altLang="zh-CN" dirty="0" smtClean="0"/>
              <a:t>[S1]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batch 100 </a:t>
            </a:r>
          </a:p>
          <a:p>
            <a:r>
              <a:rPr lang="en-US" altLang="zh-CN" dirty="0" smtClean="0"/>
              <a:t>[S1] interface </a:t>
            </a:r>
            <a:r>
              <a:rPr lang="en-US" altLang="zh-CN" dirty="0" err="1" smtClean="0"/>
              <a:t>gigabitethernet</a:t>
            </a:r>
            <a:r>
              <a:rPr lang="en-US" altLang="zh-CN" dirty="0" smtClean="0"/>
              <a:t> 0/0/1 </a:t>
            </a:r>
          </a:p>
          <a:p>
            <a:r>
              <a:rPr lang="en-US" altLang="zh-CN" dirty="0" smtClean="0"/>
              <a:t>[S1-GigabitEthernet0/0/1] port link-type trunk </a:t>
            </a:r>
          </a:p>
          <a:p>
            <a:r>
              <a:rPr lang="en-US" altLang="zh-CN" dirty="0" smtClean="0"/>
              <a:t>[S1-GigabitEthernet0/0/1] port trunk </a:t>
            </a:r>
            <a:r>
              <a:rPr lang="en-US" altLang="zh-CN" dirty="0" err="1" smtClean="0"/>
              <a:t>pvid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100 </a:t>
            </a:r>
          </a:p>
          <a:p>
            <a:r>
              <a:rPr lang="en-US" altLang="zh-CN" dirty="0" smtClean="0"/>
              <a:t>[S1-GigabitEthernet0/0/1] port trunk allow-pass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100 </a:t>
            </a:r>
          </a:p>
          <a:p>
            <a:r>
              <a:rPr lang="en-US" altLang="zh-CN" dirty="0" smtClean="0"/>
              <a:t>[S1-GigabitEthernet0/0/1] quit [S1] interface </a:t>
            </a:r>
            <a:r>
              <a:rPr lang="en-US" altLang="zh-CN" dirty="0" err="1" smtClean="0"/>
              <a:t>gigabitethernet</a:t>
            </a:r>
            <a:r>
              <a:rPr lang="en-US" altLang="zh-CN" dirty="0" smtClean="0"/>
              <a:t> 0/0/2 </a:t>
            </a:r>
          </a:p>
          <a:p>
            <a:r>
              <a:rPr lang="en-US" altLang="zh-CN" dirty="0" smtClean="0"/>
              <a:t>[S1-GigabitEthernet0/0/2] port link-type trunk </a:t>
            </a:r>
          </a:p>
          <a:p>
            <a:r>
              <a:rPr lang="en-US" altLang="zh-CN" dirty="0" smtClean="0"/>
              <a:t>[S1-GigabitEthernet0/0/2] port trunk allow-pass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100 </a:t>
            </a:r>
          </a:p>
          <a:p>
            <a:r>
              <a:rPr lang="en-US" altLang="zh-CN" dirty="0" smtClean="0"/>
              <a:t>[S1-GigabitEthernet0/0/2] quit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01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244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</a:t>
            </a:r>
            <a:r>
              <a:rPr lang="zh-CN" altLang="en-US" dirty="0" smtClean="0"/>
              <a:t>在</a:t>
            </a:r>
            <a:r>
              <a:rPr lang="en-US" altLang="zh-CN" dirty="0" smtClean="0"/>
              <a:t>AC</a:t>
            </a:r>
            <a:r>
              <a:rPr lang="zh-CN" altLang="en-US" dirty="0" smtClean="0"/>
              <a:t>上离线导入</a:t>
            </a:r>
            <a:r>
              <a:rPr lang="en-US" altLang="zh-CN" dirty="0" smtClean="0"/>
              <a:t>AP</a:t>
            </a:r>
          </a:p>
          <a:p>
            <a:r>
              <a:rPr lang="en-US" altLang="zh-CN" dirty="0" smtClean="0"/>
              <a:t> ▫ </a:t>
            </a:r>
            <a:r>
              <a:rPr lang="zh-CN" altLang="en-US" dirty="0" smtClean="0"/>
              <a:t>将</a:t>
            </a:r>
            <a:r>
              <a:rPr lang="en-US" altLang="zh-CN" dirty="0" smtClean="0"/>
              <a:t>AP</a:t>
            </a:r>
            <a:r>
              <a:rPr lang="zh-CN" altLang="en-US" dirty="0" smtClean="0"/>
              <a:t>加入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组“</a:t>
            </a:r>
            <a:r>
              <a:rPr lang="en-US" altLang="zh-CN" dirty="0" smtClean="0"/>
              <a:t>ap-group1”</a:t>
            </a:r>
            <a:r>
              <a:rPr lang="zh-CN" altLang="en-US" dirty="0" smtClean="0"/>
              <a:t>中。假设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地址为</a:t>
            </a:r>
            <a:r>
              <a:rPr lang="en-US" altLang="zh-CN" dirty="0" smtClean="0"/>
              <a:t>60de-4476-e360</a:t>
            </a:r>
            <a:r>
              <a:rPr lang="zh-CN" altLang="en-US" dirty="0" smtClean="0"/>
              <a:t>，并且根据 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的部署位置为</a:t>
            </a:r>
            <a:r>
              <a:rPr lang="en-US" altLang="zh-CN" dirty="0" smtClean="0"/>
              <a:t>AP</a:t>
            </a:r>
            <a:r>
              <a:rPr lang="zh-CN" altLang="en-US" dirty="0" smtClean="0"/>
              <a:t>配置名称，便于从名称上就能够了解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的部署位置。例如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 址为</a:t>
            </a:r>
            <a:r>
              <a:rPr lang="en-US" altLang="zh-CN" dirty="0" smtClean="0"/>
              <a:t>60de-4476-e360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部署在</a:t>
            </a:r>
            <a:r>
              <a:rPr lang="en-US" altLang="zh-CN" dirty="0" smtClean="0"/>
              <a:t>1</a:t>
            </a:r>
            <a:r>
              <a:rPr lang="zh-CN" altLang="en-US" dirty="0" smtClean="0"/>
              <a:t>号区域，命名此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为</a:t>
            </a:r>
            <a:r>
              <a:rPr lang="en-US" altLang="zh-CN" dirty="0" smtClean="0"/>
              <a:t>area_1</a:t>
            </a:r>
            <a:r>
              <a:rPr lang="zh-CN" altLang="en-US" dirty="0" smtClean="0"/>
              <a:t>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0108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• display </a:t>
            </a:r>
            <a:r>
              <a:rPr lang="en-US" altLang="zh-CN" dirty="0" err="1" smtClean="0"/>
              <a:t>ap</a:t>
            </a:r>
            <a:r>
              <a:rPr lang="zh-CN" altLang="en-US" dirty="0" smtClean="0"/>
              <a:t>命令输出信息描述：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 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MAC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 MAC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Name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Group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所属的</a:t>
            </a:r>
            <a:r>
              <a:rPr lang="en-US" altLang="zh-CN" dirty="0" smtClean="0"/>
              <a:t>AP</a:t>
            </a:r>
            <a:r>
              <a:rPr lang="zh-CN" altLang="en-US" dirty="0" smtClean="0"/>
              <a:t>组名称。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IP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地址。在</a:t>
            </a:r>
            <a:r>
              <a:rPr lang="en-US" altLang="zh-CN" dirty="0" smtClean="0"/>
              <a:t>NAT</a:t>
            </a:r>
            <a:r>
              <a:rPr lang="zh-CN" altLang="en-US" dirty="0" smtClean="0"/>
              <a:t>场景下，</a:t>
            </a:r>
            <a:r>
              <a:rPr lang="en-US" altLang="zh-CN" dirty="0" smtClean="0"/>
              <a:t>AP</a:t>
            </a:r>
            <a:r>
              <a:rPr lang="zh-CN" altLang="en-US" dirty="0" smtClean="0"/>
              <a:t>在私网侧，</a:t>
            </a:r>
            <a:r>
              <a:rPr lang="en-US" altLang="zh-CN" dirty="0" smtClean="0"/>
              <a:t>AC</a:t>
            </a:r>
            <a:r>
              <a:rPr lang="zh-CN" altLang="en-US" dirty="0" smtClean="0"/>
              <a:t>在公网侧，该值为</a:t>
            </a:r>
            <a:r>
              <a:rPr lang="en-US" altLang="zh-CN" dirty="0" smtClean="0"/>
              <a:t>AP</a:t>
            </a:r>
            <a:r>
              <a:rPr lang="zh-CN" altLang="en-US" dirty="0" smtClean="0"/>
              <a:t>私网侧的</a:t>
            </a:r>
            <a:r>
              <a:rPr lang="en-US" altLang="zh-CN" dirty="0" smtClean="0"/>
              <a:t>IP </a:t>
            </a:r>
            <a:r>
              <a:rPr lang="zh-CN" altLang="en-US" dirty="0" smtClean="0"/>
              <a:t>地址。可通过命令</a:t>
            </a:r>
            <a:r>
              <a:rPr lang="en-US" altLang="zh-CN" dirty="0" smtClean="0"/>
              <a:t>display </a:t>
            </a:r>
            <a:r>
              <a:rPr lang="en-US" altLang="zh-CN" dirty="0" err="1" smtClean="0"/>
              <a:t>ap</a:t>
            </a:r>
            <a:r>
              <a:rPr lang="en-US" altLang="zh-CN" dirty="0" smtClean="0"/>
              <a:t> run-info</a:t>
            </a:r>
            <a:r>
              <a:rPr lang="zh-CN" altLang="en-US" dirty="0" smtClean="0"/>
              <a:t>查看</a:t>
            </a:r>
            <a:r>
              <a:rPr lang="en-US" altLang="zh-CN" dirty="0" smtClean="0"/>
              <a:t>AP</a:t>
            </a:r>
            <a:r>
              <a:rPr lang="zh-CN" altLang="en-US" dirty="0" smtClean="0"/>
              <a:t>公网侧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类型。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State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状态。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normal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正常状态，指</a:t>
            </a:r>
            <a:r>
              <a:rPr lang="en-US" altLang="zh-CN" dirty="0" smtClean="0"/>
              <a:t>AP</a:t>
            </a:r>
            <a:r>
              <a:rPr lang="zh-CN" altLang="en-US" dirty="0" smtClean="0"/>
              <a:t>在</a:t>
            </a:r>
            <a:r>
              <a:rPr lang="en-US" altLang="zh-CN" dirty="0" smtClean="0"/>
              <a:t>AC</a:t>
            </a:r>
            <a:r>
              <a:rPr lang="zh-CN" altLang="en-US" dirty="0" smtClean="0"/>
              <a:t>上成功上线。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commit-failed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上线后</a:t>
            </a:r>
            <a:r>
              <a:rPr lang="en-US" altLang="zh-CN" dirty="0" smtClean="0"/>
              <a:t>WLAN</a:t>
            </a:r>
            <a:r>
              <a:rPr lang="zh-CN" altLang="en-US" dirty="0" smtClean="0"/>
              <a:t>业务配置下发失败状态。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download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正在升级状态。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fault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上线失败状态。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idle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AC</a:t>
            </a:r>
            <a:r>
              <a:rPr lang="zh-CN" altLang="en-US" dirty="0" smtClean="0"/>
              <a:t>建链前的初始状态。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STA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上接入的终端用户数。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Uptime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已上线时长。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ExtraInfo</a:t>
            </a:r>
            <a:r>
              <a:rPr lang="zh-CN" altLang="en-US" dirty="0" smtClean="0"/>
              <a:t>：额外的信息。</a:t>
            </a:r>
            <a:r>
              <a:rPr lang="en-US" altLang="zh-CN" dirty="0" smtClean="0"/>
              <a:t>P</a:t>
            </a:r>
            <a:r>
              <a:rPr lang="zh-CN" altLang="en-US" dirty="0" smtClean="0"/>
              <a:t>表示设备供电不足。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472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507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872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1047750"/>
            <a:ext cx="6099175" cy="34305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display </a:t>
            </a:r>
            <a:r>
              <a:rPr lang="en-US" altLang="zh-CN" dirty="0" err="1" smtClean="0"/>
              <a:t>vap</a:t>
            </a:r>
            <a:r>
              <a:rPr lang="zh-CN" altLang="en-US" dirty="0" smtClean="0"/>
              <a:t>命令输出信息描述：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AP 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 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AP name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AP</a:t>
            </a:r>
            <a:r>
              <a:rPr lang="zh-CN" altLang="en-US" dirty="0" smtClean="0"/>
              <a:t>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RfID</a:t>
            </a:r>
            <a:r>
              <a:rPr lang="zh-CN" altLang="en-US" dirty="0" smtClean="0"/>
              <a:t>：射频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WID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SSID</a:t>
            </a:r>
            <a:r>
              <a:rPr lang="zh-CN" altLang="en-US" dirty="0" smtClean="0"/>
              <a:t>的名称。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BSSID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Status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当前状态：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ON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服务开启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 ▪ </a:t>
            </a:r>
            <a:r>
              <a:rPr lang="en-US" altLang="zh-CN" dirty="0" smtClean="0"/>
              <a:t>OFF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服务关闭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err="1" smtClean="0"/>
              <a:t>Auth</a:t>
            </a:r>
            <a:r>
              <a:rPr lang="en-US" altLang="zh-CN" dirty="0" smtClean="0"/>
              <a:t> type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VAP</a:t>
            </a:r>
            <a:r>
              <a:rPr lang="zh-CN" altLang="en-US" dirty="0" smtClean="0"/>
              <a:t>认证方式。</a:t>
            </a:r>
            <a:endParaRPr lang="en-US" altLang="zh-CN" dirty="0" smtClean="0"/>
          </a:p>
          <a:p>
            <a:r>
              <a:rPr lang="zh-CN" altLang="en-US" dirty="0" smtClean="0"/>
              <a:t> ▫ </a:t>
            </a:r>
            <a:r>
              <a:rPr lang="en-US" altLang="zh-CN" dirty="0" smtClean="0"/>
              <a:t>STA</a:t>
            </a:r>
            <a:r>
              <a:rPr lang="zh-CN" altLang="en-US" dirty="0" smtClean="0"/>
              <a:t>：当前</a:t>
            </a:r>
            <a:r>
              <a:rPr lang="en-US" altLang="zh-CN" dirty="0" smtClean="0"/>
              <a:t>VAP</a:t>
            </a:r>
            <a:r>
              <a:rPr lang="zh-CN" altLang="en-US" dirty="0" smtClean="0"/>
              <a:t>接入的终端数。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185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5" descr="one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3" y="0"/>
            <a:ext cx="121835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32951" y="4094163"/>
            <a:ext cx="1270000" cy="264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80101" tIns="40052" rIns="80101" bIns="40052">
            <a:spAutoFit/>
          </a:bodyPr>
          <a:lstStyle/>
          <a:p>
            <a:pPr marL="0" marR="0" lvl="0" indent="0" algn="l" defTabSz="8020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Next LT Regular" pitchFamily="34" charset="0"/>
                <a:ea typeface="MS PGothic" panose="020B0600070205080204" pitchFamily="34" charset="-128"/>
                <a:cs typeface="+mn-cs"/>
              </a:rPr>
              <a:t>www.huawei.com</a:t>
            </a:r>
          </a:p>
        </p:txBody>
      </p:sp>
      <p:sp>
        <p:nvSpPr>
          <p:cNvPr id="146637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1942213" y="2593717"/>
            <a:ext cx="8502453" cy="1666875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912284" y="282575"/>
            <a:ext cx="2842684" cy="474663"/>
          </a:xfrm>
          <a:prstGeom prst="rect">
            <a:avLst/>
          </a:prstGeom>
          <a:ln>
            <a:miter lim="800000"/>
          </a:ln>
        </p:spPr>
        <p:txBody>
          <a:bodyPr vert="horz" wrap="square" lIns="80114" tIns="40058" rIns="80114" bIns="40058" numCol="1" anchor="t" anchorCtr="0" compatLnSpc="1"/>
          <a:lstStyle>
            <a:lvl1pPr algn="l">
              <a:defRPr sz="1300">
                <a:solidFill>
                  <a:schemeClr val="tx1"/>
                </a:solidFill>
                <a:latin typeface="FrutigerNext LT Regular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rutigerNext LT Regular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69951" y="1376363"/>
            <a:ext cx="5183716" cy="419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7" y="1376363"/>
            <a:ext cx="5185833" cy="419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80127" tIns="40065" rIns="80127" bIns="40065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802005" rtl="0" eaLnBrk="0" fontAlgn="base" latinLnBrk="0" hangingPunct="0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96867" y="358775"/>
            <a:ext cx="2645833" cy="52133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55133" y="358775"/>
            <a:ext cx="7738533" cy="52133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5133" y="358775"/>
            <a:ext cx="10308167" cy="8683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9951" y="1376363"/>
            <a:ext cx="10572749" cy="4195762"/>
          </a:xfrm>
        </p:spPr>
        <p:txBody>
          <a:bodyPr vert="horz" wrap="square" lIns="80127" tIns="40065" rIns="80127" bIns="40065" numCol="1" anchor="t" anchorCtr="0" compatLnSpc="1"/>
          <a:lstStyle/>
          <a:p>
            <a:pPr marL="301625" marR="0" lvl="0" indent="-301625" algn="l" defTabSz="802005" rtl="0" eaLnBrk="0" fontAlgn="base" latinLnBrk="0" hangingPunct="0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zh-CN" altLang="en-US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0" y="2686050"/>
            <a:ext cx="1339851" cy="209550"/>
          </a:xfrm>
          <a:prstGeom prst="roundRect">
            <a:avLst>
              <a:gd name="adj" fmla="val 4013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7518400" y="6457950"/>
            <a:ext cx="3860800" cy="3143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80200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7" descr="PP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-12700"/>
            <a:ext cx="12196762" cy="688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2720" y="2054225"/>
            <a:ext cx="8658225" cy="1249045"/>
          </a:xfrm>
        </p:spPr>
        <p:txBody>
          <a:bodyPr anchor="ctr" anchorCtr="0"/>
          <a:lstStyle>
            <a:lvl1pPr algn="l">
              <a:defRPr sz="33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93135"/>
            <a:ext cx="9144000" cy="475615"/>
          </a:xfrm>
        </p:spPr>
        <p:txBody>
          <a:bodyPr/>
          <a:lstStyle>
            <a:lvl1pPr marL="0" indent="0" algn="l">
              <a:buNone/>
              <a:defRPr sz="1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7D9BB5D0-35E4-459D-AEF3-FE4D7C45CC19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1D74B8"/>
              </a:buClr>
              <a:buFont typeface="Wingdings" panose="05000000000000000000" charset="0"/>
              <a:buChar char="p"/>
              <a:defRPr/>
            </a:lvl1pPr>
            <a:lvl2pPr>
              <a:buClr>
                <a:srgbClr val="1D74B8"/>
              </a:buClr>
              <a:buFont typeface="Wingdings" panose="05000000000000000000" charset="0"/>
              <a:buChar char="n"/>
              <a:defRPr/>
            </a:lvl2pPr>
            <a:lvl3pPr>
              <a:buClr>
                <a:srgbClr val="1D74B8"/>
              </a:buClr>
              <a:buFont typeface="Wingdings" panose="05000000000000000000" charset="0"/>
              <a:buChar char="u"/>
              <a:defRPr/>
            </a:lvl3pPr>
            <a:lvl4pPr>
              <a:buClr>
                <a:srgbClr val="1D74B8"/>
              </a:buClr>
              <a:buFont typeface="宋体" panose="02010600030101010101" pitchFamily="2" charset="-122"/>
              <a:buChar char="—"/>
              <a:defRPr/>
            </a:lvl4pPr>
            <a:lvl5pPr marL="1371600" indent="0">
              <a:buNone/>
              <a:defRPr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45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 algn="ctr">
              <a:defRPr sz="24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972820"/>
            <a:ext cx="10515600" cy="491998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7D9BB5D0-35E4-459D-AEF3-FE4D7C45CC19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2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/>
          </p:cNvSpPr>
          <p:nvPr>
            <p:ph type="title"/>
          </p:nvPr>
        </p:nvSpPr>
        <p:spPr>
          <a:xfrm>
            <a:off x="855133" y="358775"/>
            <a:ext cx="10308167" cy="868363"/>
          </a:xfrm>
          <a:prstGeom prst="rect">
            <a:avLst/>
          </a:prstGeom>
          <a:noFill/>
          <a:ln w="9525">
            <a:noFill/>
          </a:ln>
        </p:spPr>
        <p:txBody>
          <a:bodyPr lIns="80114" tIns="40058" rIns="80114" bIns="40058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50"/>
          <p:cNvSpPr>
            <a:spLocks noGrp="1"/>
          </p:cNvSpPr>
          <p:nvPr>
            <p:ph type="body" idx="1"/>
          </p:nvPr>
        </p:nvSpPr>
        <p:spPr>
          <a:xfrm>
            <a:off x="869951" y="1376363"/>
            <a:ext cx="10572749" cy="4195762"/>
          </a:xfrm>
          <a:prstGeom prst="rect">
            <a:avLst/>
          </a:prstGeom>
          <a:noFill/>
          <a:ln w="9525">
            <a:noFill/>
          </a:ln>
        </p:spPr>
        <p:txBody>
          <a:bodyPr lIns="80127" tIns="40065" rIns="80127" bIns="40065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65471" name="Rectangle 1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5867" y="6499225"/>
            <a:ext cx="2025651" cy="3333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algn="l">
              <a:defRPr sz="1200">
                <a:solidFill>
                  <a:schemeClr val="tx1"/>
                </a:solidFill>
                <a:latin typeface="FrutigerNext LT Bold" pitchFamily="1" charset="0"/>
              </a:defRPr>
            </a:lvl1pPr>
          </a:lstStyle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r" defTabSz="802005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+mj-lt"/>
          <a:ea typeface="+mj-ea"/>
          <a:cs typeface="+mj-cs"/>
        </a:defRPr>
      </a:lvl1pPr>
      <a:lvl2pPr algn="r" defTabSz="802005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FrutigerNext LT Medium" pitchFamily="34" charset="0"/>
          <a:ea typeface="黑体" panose="02010609060101010101" pitchFamily="49" charset="-122"/>
        </a:defRPr>
      </a:lvl2pPr>
      <a:lvl3pPr algn="r" defTabSz="802005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FrutigerNext LT Medium" pitchFamily="34" charset="0"/>
          <a:ea typeface="黑体" panose="02010609060101010101" pitchFamily="49" charset="-122"/>
        </a:defRPr>
      </a:lvl3pPr>
      <a:lvl4pPr algn="r" defTabSz="802005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FrutigerNext LT Medium" pitchFamily="34" charset="0"/>
          <a:ea typeface="黑体" panose="02010609060101010101" pitchFamily="49" charset="-122"/>
        </a:defRPr>
      </a:lvl4pPr>
      <a:lvl5pPr algn="r" defTabSz="802005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FrutigerNext LT Medium" pitchFamily="34" charset="0"/>
          <a:ea typeface="黑体" panose="02010609060101010101" pitchFamily="49" charset="-122"/>
        </a:defRPr>
      </a:lvl5pPr>
      <a:lvl6pPr marL="457200" algn="l" defTabSz="802005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anose="02010609060101010101" pitchFamily="49" charset="-122"/>
        </a:defRPr>
      </a:lvl6pPr>
      <a:lvl7pPr marL="914400" algn="l" defTabSz="802005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anose="02010609060101010101" pitchFamily="49" charset="-122"/>
        </a:defRPr>
      </a:lvl7pPr>
      <a:lvl8pPr marL="1371600" algn="l" defTabSz="802005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anose="02010609060101010101" pitchFamily="49" charset="-122"/>
        </a:defRPr>
      </a:lvl8pPr>
      <a:lvl9pPr marL="1828800" algn="l" defTabSz="802005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anose="02010609060101010101" pitchFamily="49" charset="-122"/>
        </a:defRPr>
      </a:lvl9pPr>
    </p:titleStyle>
    <p:bodyStyle>
      <a:lvl1pPr marL="301625" indent="-301625" algn="l" defTabSz="802005" rtl="0" eaLnBrk="0" fontAlgn="base" hangingPunct="0">
        <a:lnSpc>
          <a:spcPct val="140000"/>
        </a:lnSpc>
        <a:spcBef>
          <a:spcPct val="3000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54050" indent="-252730" algn="l" defTabSz="802005" rtl="0" eaLnBrk="0" fontAlgn="base" hangingPunct="0">
        <a:lnSpc>
          <a:spcPct val="140000"/>
        </a:lnSpc>
        <a:spcBef>
          <a:spcPct val="30000"/>
        </a:spcBef>
        <a:spcAft>
          <a:spcPct val="0"/>
        </a:spcAft>
        <a:buClr>
          <a:srgbClr val="080808"/>
        </a:buClr>
        <a:buSzPct val="50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+mn-ea"/>
        </a:defRPr>
      </a:lvl2pPr>
      <a:lvl3pPr marL="1003300" indent="-201930" algn="l" defTabSz="802005" rtl="0" eaLnBrk="0" fontAlgn="base" hangingPunct="0">
        <a:lnSpc>
          <a:spcPct val="140000"/>
        </a:lnSpc>
        <a:spcBef>
          <a:spcPct val="30000"/>
        </a:spcBef>
        <a:spcAft>
          <a:spcPct val="0"/>
        </a:spcAft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400175" indent="-198755" algn="l" defTabSz="802005" rtl="0" eaLnBrk="0" fontAlgn="base" hangingPunct="0">
        <a:lnSpc>
          <a:spcPct val="140000"/>
        </a:lnSpc>
        <a:spcBef>
          <a:spcPct val="3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  <a:ea typeface="+mn-ea"/>
        </a:defRPr>
      </a:lvl4pPr>
      <a:lvl5pPr marL="1800225" indent="-200025" algn="l" defTabSz="802005" rtl="0" eaLnBrk="0" fontAlgn="base" hangingPunct="0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5pPr>
      <a:lvl6pPr marL="2257425" indent="-200025" algn="l" defTabSz="802005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6pPr>
      <a:lvl7pPr marL="2714625" indent="-200025" algn="l" defTabSz="802005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7pPr>
      <a:lvl8pPr marL="3171825" indent="-200025" algn="l" defTabSz="802005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8pPr>
      <a:lvl9pPr marL="3629025" indent="-200025" algn="l" defTabSz="802005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943600"/>
            <a:ext cx="12192000" cy="931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9446" name="Text Box 6"/>
          <p:cNvSpPr txBox="1">
            <a:spLocks noChangeArrowheads="1"/>
          </p:cNvSpPr>
          <p:nvPr/>
        </p:nvSpPr>
        <p:spPr bwMode="auto">
          <a:xfrm>
            <a:off x="4580467" y="3189288"/>
            <a:ext cx="2511425" cy="446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8345" tIns="39172" rIns="78345" bIns="39172">
            <a:spAutoFit/>
          </a:bodyPr>
          <a:lstStyle/>
          <a:p>
            <a:pPr marL="0" marR="0" lvl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www.huawei.com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69447" name="Text Box 7"/>
          <p:cNvSpPr txBox="1">
            <a:spLocks noChangeArrowheads="1"/>
          </p:cNvSpPr>
          <p:nvPr/>
        </p:nvSpPr>
        <p:spPr bwMode="auto">
          <a:xfrm>
            <a:off x="5452533" y="2506663"/>
            <a:ext cx="119761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78358" tIns="39179" rIns="78358" bIns="39179">
            <a:spAutoFit/>
          </a:bodyPr>
          <a:lstStyle/>
          <a:p>
            <a:pPr marL="0" marR="0" lvl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100" b="0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谢谢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lvl1pPr algn="ctr" defTabSz="802005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02005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802005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802005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802005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defTabSz="802005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802005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802005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802005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01625" indent="-301625" algn="l" defTabSz="802005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54050" indent="-252730" algn="l" defTabSz="802005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  <a:ea typeface="+mn-ea"/>
        </a:defRPr>
      </a:lvl2pPr>
      <a:lvl3pPr marL="1003300" indent="-201930" algn="l" defTabSz="802005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400175" indent="-198755" algn="l" defTabSz="802005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1800225" indent="-200025" algn="l" defTabSz="802005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257425" indent="-200025" algn="l" defTabSz="802005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714625" indent="-200025" algn="l" defTabSz="802005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171825" indent="-200025" algn="l" defTabSz="802005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629025" indent="-200025" algn="l" defTabSz="802005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 descr="PPT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75" y="-3175"/>
            <a:ext cx="1217930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2038350" y="233363"/>
            <a:ext cx="7804150" cy="85883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/>
          </p:nvPr>
        </p:nvSpPr>
        <p:spPr>
          <a:xfrm>
            <a:off x="838200" y="1231900"/>
            <a:ext cx="10515600" cy="47053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82F288E0-7875-42C4-84C8-98DBBD3BF4D2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2023/3/25 Saturday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lnSpc>
                <a:spcPct val="85000"/>
              </a:lnSpc>
              <a:buNone/>
            </a:pPr>
            <a:r>
              <a:rPr lang="en-US" altLang="zh-CN" dirty="0"/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>
              <a:lumMod val="75000"/>
              <a:lumOff val="2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1D74B8"/>
        </a:buClr>
        <a:buFont typeface="Wingdings" panose="05000000000000000000" charset="0"/>
        <a:buChar char="p"/>
        <a:defRPr sz="2100" kern="1200">
          <a:solidFill>
            <a:schemeClr val="tx1">
              <a:lumMod val="65000"/>
              <a:lumOff val="3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1D74B8"/>
        </a:buClr>
        <a:buFont typeface="Wingdings" panose="05000000000000000000" charset="0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1D74B8"/>
        </a:buClr>
        <a:buFont typeface="Wingdings" panose="05000000000000000000" charset="0"/>
        <a:buChar char="u"/>
        <a:defRPr sz="1500" kern="1200">
          <a:solidFill>
            <a:schemeClr val="tx1">
              <a:lumMod val="65000"/>
              <a:lumOff val="3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1D74B8"/>
        </a:buClr>
        <a:buFont typeface="宋体" panose="02010600030101010101" pitchFamily="2" charset="-122"/>
        <a:buChar char="—"/>
        <a:defRPr sz="1350" kern="1200">
          <a:solidFill>
            <a:schemeClr val="tx1">
              <a:lumMod val="65000"/>
              <a:lumOff val="3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>
              <a:lumMod val="65000"/>
              <a:lumOff val="3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6"/>
          <p:cNvSpPr>
            <a:spLocks noGrp="1"/>
          </p:cNvSpPr>
          <p:nvPr>
            <p:ph type="title"/>
          </p:nvPr>
        </p:nvSpPr>
        <p:spPr>
          <a:xfrm>
            <a:off x="2193925" y="2920048"/>
            <a:ext cx="7804150" cy="858837"/>
          </a:xfrm>
        </p:spPr>
        <p:txBody>
          <a:bodyPr vert="horz" wrap="square" lIns="80114" tIns="40058" rIns="80114" bIns="40058" anchor="ctr"/>
          <a:lstStyle/>
          <a:p>
            <a:pPr defTabSz="802005" eaLnBrk="1" hangingPunct="1">
              <a:buClrTx/>
              <a:buSzTx/>
              <a:buFontTx/>
            </a:pPr>
            <a:r>
              <a:rPr lang="zh-CN" altLang="en-US" sz="4000" dirty="0" smtClean="0">
                <a:latin typeface="+mj-lt"/>
                <a:ea typeface="+mj-ea"/>
                <a:cs typeface="+mj-cs"/>
              </a:rPr>
              <a:t>第二十一章 </a:t>
            </a:r>
            <a:r>
              <a:rPr lang="en-US" altLang="zh-CN" sz="4000" dirty="0" smtClean="0">
                <a:latin typeface="+mj-lt"/>
                <a:ea typeface="+mj-ea"/>
                <a:cs typeface="+mj-cs"/>
              </a:rPr>
              <a:t>WLAN</a:t>
            </a:r>
            <a:r>
              <a:rPr lang="zh-CN" altLang="en-US" sz="4000" dirty="0" smtClean="0">
                <a:latin typeface="+mj-lt"/>
                <a:ea typeface="+mj-ea"/>
                <a:cs typeface="+mj-cs"/>
              </a:rPr>
              <a:t>技术配置</a:t>
            </a:r>
            <a:endParaRPr lang="zh-CN" alt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12291" name="DtsShapeName" descr="4D8CC8E7GB965315C55EB3D5@EG@1CEG098AA\9;&gt;@DE71139125!!!BIHO@]e71139125!@5E15C21102E29D086D浇唆尼写蓟黔ⅹ郑颂籽吓泞变W0/1/qnu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1!?" hidden="1"/>
          <p:cNvSpPr/>
          <p:nvPr/>
        </p:nvSpPr>
        <p:spPr>
          <a:xfrm>
            <a:off x="1524000" y="0"/>
            <a:ext cx="1588" cy="1588"/>
          </a:xfrm>
          <a:custGeom>
            <a:avLst/>
            <a:gdLst>
              <a:gd name="txL" fmla="*/ 5033 w 21600"/>
              <a:gd name="txT" fmla="*/ 2272 h 21600"/>
              <a:gd name="txR" fmla="*/ 16554 w 21600"/>
              <a:gd name="txB" fmla="*/ 13684 h 21600"/>
            </a:gdLst>
            <a:ahLst/>
            <a:cxnLst>
              <a:cxn ang="17694720">
                <a:pos x="0" y="0"/>
              </a:cxn>
              <a:cxn ang="11796480">
                <a:pos x="0" y="0"/>
              </a:cxn>
              <a:cxn ang="5898240">
                <a:pos x="0" y="0"/>
              </a:cxn>
              <a:cxn ang="0">
                <a:pos x="0" y="0"/>
              </a:cxn>
            </a:cxnLst>
            <a:rect l="txL" t="txT" r="txR" b="txB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r>
              <a:rPr lang="zh-CN" altLang="en-US" dirty="0"/>
              <a:t>课前小考</a:t>
            </a: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100" b="0" i="0" u="none" kern="1200" baseline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100" b="0" i="0" u="none" kern="1200" baseline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100" b="0" i="0" u="none" kern="1200" baseline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100" b="0" i="0" u="none" kern="1200" baseline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100" b="0" i="0" u="none" kern="1200" baseline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l">
              <a:lnSpc>
                <a:spcPct val="85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Page</a:t>
            </a: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FrutigerNext LT Bold" pitchFamily="1" charset="0"/>
              </a:rPr>
              <a:t>1</a:t>
            </a:fld>
            <a:endParaRPr lang="en-US" altLang="zh-CN" sz="1200" dirty="0">
              <a:solidFill>
                <a:schemeClr val="tx1"/>
              </a:solidFill>
              <a:latin typeface="FrutigerNext LT Bold" pitchFamily="1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/>
          <p:nvPr/>
        </p:nvSpPr>
        <p:spPr>
          <a:xfrm>
            <a:off x="9218613" y="6473825"/>
            <a:ext cx="12350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zh-CN" sz="1400" dirty="0">
                <a:solidFill>
                  <a:srgbClr val="1D528D"/>
                </a:solidFill>
                <a:latin typeface="Arial" panose="020B0604020202020204" pitchFamily="34" charset="0"/>
              </a:rPr>
              <a:t>*/45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4294967295"/>
          </p:nvPr>
        </p:nvSpPr>
        <p:spPr>
          <a:xfrm>
            <a:off x="1524000" y="1143000"/>
            <a:ext cx="8500745" cy="5143500"/>
          </a:xfrm>
        </p:spPr>
        <p:txBody>
          <a:bodyPr vert="horz" wrap="square" lIns="80127" tIns="40065" rIns="80127" bIns="40065" anchor="t"/>
          <a:lstStyle/>
          <a:p>
            <a:pPr marL="457200" indent="-457200" defTabSz="0">
              <a:lnSpc>
                <a:spcPct val="150000"/>
              </a:lnSpc>
              <a:spcBef>
                <a:spcPts val="675"/>
              </a:spcBef>
              <a:buClrTx/>
              <a:buSzPct val="100000"/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sym typeface="Arial" panose="020B0604020202020204" pitchFamily="34" charset="0"/>
              </a:rPr>
              <a:t>完成</a:t>
            </a:r>
            <a:r>
              <a:rPr lang="en-US" altLang="zh-CN" sz="2800" dirty="0" smtClean="0">
                <a:sym typeface="Arial" panose="020B0604020202020204" pitchFamily="34" charset="0"/>
              </a:rPr>
              <a:t>WLAN</a:t>
            </a:r>
            <a:r>
              <a:rPr lang="zh-CN" altLang="en-US" sz="2800" dirty="0" smtClean="0">
                <a:sym typeface="Arial" panose="020B0604020202020204" pitchFamily="34" charset="0"/>
              </a:rPr>
              <a:t>的基本配置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dirty="0"/>
              <a:t>技能展示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5"/>
          <p:cNvSpPr/>
          <p:nvPr/>
        </p:nvSpPr>
        <p:spPr>
          <a:xfrm>
            <a:off x="9218613" y="6473825"/>
            <a:ext cx="12350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zh-CN" sz="1400" dirty="0">
                <a:solidFill>
                  <a:srgbClr val="1D528D"/>
                </a:solidFill>
                <a:latin typeface="Arial" panose="020B0604020202020204" pitchFamily="34" charset="0"/>
              </a:rPr>
              <a:t>*/45</a:t>
            </a:r>
          </a:p>
        </p:txBody>
      </p:sp>
      <p:sp>
        <p:nvSpPr>
          <p:cNvPr id="153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dirty="0"/>
              <a:t>本章结构</a:t>
            </a:r>
          </a:p>
        </p:txBody>
      </p:sp>
      <p:sp>
        <p:nvSpPr>
          <p:cNvPr id="16" name="Line 8"/>
          <p:cNvSpPr/>
          <p:nvPr/>
        </p:nvSpPr>
        <p:spPr>
          <a:xfrm>
            <a:off x="3527425" y="5012038"/>
            <a:ext cx="2428875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ine 8"/>
          <p:cNvSpPr/>
          <p:nvPr/>
        </p:nvSpPr>
        <p:spPr>
          <a:xfrm>
            <a:off x="3522663" y="2143125"/>
            <a:ext cx="2428875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0"/>
          <p:cNvSpPr/>
          <p:nvPr/>
        </p:nvSpPr>
        <p:spPr>
          <a:xfrm>
            <a:off x="3090863" y="3632200"/>
            <a:ext cx="431800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AutoShape 4"/>
          <p:cNvSpPr/>
          <p:nvPr/>
        </p:nvSpPr>
        <p:spPr>
          <a:xfrm>
            <a:off x="1104900" y="3436938"/>
            <a:ext cx="2132013" cy="374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r>
              <a:rPr lang="en-US" altLang="zh-CN" sz="1600" b="1" smtClean="0">
                <a:solidFill>
                  <a:schemeClr val="tx1"/>
                </a:solidFill>
                <a:latin typeface="Arial" panose="020B0604020202020204" pitchFamily="34" charset="0"/>
                <a:ea typeface="楷体_GB2312"/>
                <a:sym typeface="Arial" panose="020B0604020202020204" pitchFamily="34" charset="0"/>
              </a:rPr>
              <a:t>WLAN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" name="Line 36"/>
          <p:cNvSpPr/>
          <p:nvPr/>
        </p:nvSpPr>
        <p:spPr>
          <a:xfrm>
            <a:off x="3522663" y="2143125"/>
            <a:ext cx="0" cy="2868913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AutoShape 5"/>
          <p:cNvSpPr/>
          <p:nvPr/>
        </p:nvSpPr>
        <p:spPr>
          <a:xfrm>
            <a:off x="4443413" y="4771731"/>
            <a:ext cx="2000250" cy="5107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63855" indent="-363855">
              <a:lnSpc>
                <a:spcPct val="150000"/>
              </a:lnSpc>
              <a:buClr>
                <a:schemeClr val="tx1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    </a:t>
            </a:r>
            <a:r>
              <a:rPr lang="en-US" altLang="zh-CN" sz="1600" b="1" dirty="0" smtClean="0">
                <a:solidFill>
                  <a:srgbClr val="FF0000"/>
                </a:solidFill>
                <a:latin typeface="Arial" panose="020B0604020202020204" pitchFamily="34" charset="0"/>
                <a:ea typeface="华文细黑" pitchFamily="2" charset="-122"/>
              </a:rPr>
              <a:t>WLAN</a:t>
            </a:r>
            <a:r>
              <a:rPr lang="zh-CN" altLang="en-US" sz="1600" b="1" dirty="0" smtClean="0">
                <a:solidFill>
                  <a:srgbClr val="FF0000"/>
                </a:solidFill>
                <a:ea typeface="华文细黑" pitchFamily="2" charset="-122"/>
              </a:rPr>
              <a:t>配置命令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AutoShape 5"/>
          <p:cNvSpPr/>
          <p:nvPr/>
        </p:nvSpPr>
        <p:spPr>
          <a:xfrm>
            <a:off x="4416425" y="1917754"/>
            <a:ext cx="1971675" cy="460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63855" indent="-363855">
              <a:lnSpc>
                <a:spcPct val="150000"/>
              </a:lnSpc>
              <a:spcBef>
                <a:spcPct val="50000"/>
              </a:spcBef>
              <a:buClr>
                <a:srgbClr val="CC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  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WLAN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项目案例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上线一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26837"/>
            <a:ext cx="11144250" cy="48482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上线二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1452562"/>
            <a:ext cx="111156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527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上线三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1019175"/>
            <a:ext cx="1111567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5991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配置射频一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1004887"/>
            <a:ext cx="111156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05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配置射频二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00175"/>
            <a:ext cx="111442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6405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配置射频三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" y="2000250"/>
            <a:ext cx="111537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819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VAP</a:t>
            </a:r>
            <a:r>
              <a:rPr lang="zh-CN" altLang="en-US" sz="2400" dirty="0" smtClean="0"/>
              <a:t>一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71550"/>
            <a:ext cx="111252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7730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VAP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" y="2062162"/>
            <a:ext cx="111537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792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VAP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1490662"/>
            <a:ext cx="111156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3058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配置</a:t>
            </a:r>
            <a:r>
              <a:rPr lang="en-US" altLang="zh-CN" sz="2400" dirty="0" smtClean="0"/>
              <a:t>VAP</a:t>
            </a:r>
            <a:r>
              <a:rPr lang="zh-CN" altLang="en-US" sz="2400" dirty="0" smtClean="0"/>
              <a:t>四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24025"/>
            <a:ext cx="112395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523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011" name="标题 4"/>
          <p:cNvSpPr>
            <a:spLocks noGrp="1"/>
          </p:cNvSpPr>
          <p:nvPr/>
        </p:nvSpPr>
        <p:spPr>
          <a:xfrm>
            <a:off x="2922588" y="2438400"/>
            <a:ext cx="6330950" cy="9953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3600" dirty="0" smtClean="0">
                <a:solidFill>
                  <a:schemeClr val="tx1"/>
                </a:solidFill>
                <a:latin typeface="Arial" panose="020B0604020202020204" pitchFamily="34" charset="0"/>
              </a:rPr>
              <a:t>第章 </a:t>
            </a:r>
            <a:r>
              <a:rPr lang="en-US" altLang="zh-CN" sz="3600" dirty="0">
                <a:solidFill>
                  <a:schemeClr val="tx1"/>
                </a:solidFill>
              </a:rPr>
              <a:t>WLAN</a:t>
            </a:r>
            <a:r>
              <a:rPr lang="zh-CN" altLang="en-US" sz="3600" dirty="0">
                <a:solidFill>
                  <a:schemeClr val="tx1"/>
                </a:solidFill>
              </a:rPr>
              <a:t>技术配置</a:t>
            </a:r>
            <a:endParaRPr lang="zh-CN" altLang="en-US" sz="3600" b="1" dirty="0">
              <a:solidFill>
                <a:schemeClr val="tx1"/>
              </a:solidFill>
              <a:latin typeface="Calibri" panose="020F0502020204030204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3012" name="副标题 6"/>
          <p:cNvSpPr>
            <a:spLocks noGrp="1"/>
          </p:cNvSpPr>
          <p:nvPr/>
        </p:nvSpPr>
        <p:spPr>
          <a:xfrm>
            <a:off x="5087938" y="3286125"/>
            <a:ext cx="2460625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——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试验部分</a:t>
            </a:r>
          </a:p>
          <a:p>
            <a:pPr defTabSz="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•"/>
            </a:pPr>
            <a:endParaRPr lang="zh-CN" altLang="en-US" sz="2800" b="1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14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旁挂二层组网隧道转发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871537"/>
            <a:ext cx="105537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504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配置网络互通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" y="942975"/>
            <a:ext cx="1082992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7307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配置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上线一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" y="947737"/>
            <a:ext cx="107727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6757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配置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上线二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957262"/>
            <a:ext cx="1083945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8481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查看</a:t>
            </a:r>
            <a:r>
              <a:rPr lang="en-US" altLang="zh-CN" sz="2400" dirty="0" smtClean="0"/>
              <a:t>AP</a:t>
            </a:r>
            <a:r>
              <a:rPr lang="zh-CN" altLang="en-US" sz="2400" dirty="0" smtClean="0"/>
              <a:t>上线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371600"/>
            <a:ext cx="10801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8047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配置</a:t>
            </a:r>
            <a:r>
              <a:rPr lang="en-US" altLang="zh-CN" sz="2400" dirty="0" smtClean="0"/>
              <a:t>WLAN</a:t>
            </a:r>
            <a:r>
              <a:rPr lang="zh-CN" altLang="en-US" sz="2400" dirty="0" smtClean="0"/>
              <a:t>业务参数一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" y="914400"/>
            <a:ext cx="108108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041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配置</a:t>
            </a:r>
            <a:r>
              <a:rPr lang="en-US" altLang="zh-CN" sz="2400" dirty="0" smtClean="0"/>
              <a:t>WLAN</a:t>
            </a:r>
            <a:r>
              <a:rPr lang="zh-CN" altLang="en-US" sz="2400" dirty="0" smtClean="0"/>
              <a:t>业务参数二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" y="942975"/>
            <a:ext cx="1082992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7550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sz="2400" dirty="0" smtClean="0"/>
              <a:t>案例一 查看</a:t>
            </a:r>
            <a:r>
              <a:rPr lang="en-US" altLang="zh-CN" sz="2400" dirty="0" smtClean="0"/>
              <a:t>VAP</a:t>
            </a:r>
            <a:r>
              <a:rPr lang="zh-CN" altLang="en-US" sz="2400" dirty="0" smtClean="0"/>
              <a:t>模板信息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90662"/>
            <a:ext cx="111252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2789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5"/>
          <p:cNvSpPr/>
          <p:nvPr/>
        </p:nvSpPr>
        <p:spPr>
          <a:xfrm>
            <a:off x="9218613" y="6473825"/>
            <a:ext cx="12350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zh-CN" sz="1400" dirty="0">
                <a:solidFill>
                  <a:srgbClr val="1D528D"/>
                </a:solidFill>
                <a:latin typeface="Arial" panose="020B0604020202020204" pitchFamily="34" charset="0"/>
              </a:rPr>
              <a:t>*/45</a:t>
            </a:r>
          </a:p>
        </p:txBody>
      </p:sp>
      <p:sp>
        <p:nvSpPr>
          <p:cNvPr id="153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80114" tIns="40058" rIns="80114" bIns="40058" anchor="ctr"/>
          <a:lstStyle/>
          <a:p>
            <a:pPr eaLnBrk="1" hangingPunct="1"/>
            <a:r>
              <a:rPr lang="zh-CN" altLang="en-US" dirty="0" smtClean="0"/>
              <a:t>本章</a:t>
            </a:r>
            <a:r>
              <a:rPr lang="zh-CN" altLang="en-US" dirty="0"/>
              <a:t>总结</a:t>
            </a:r>
          </a:p>
        </p:txBody>
      </p:sp>
      <p:sp>
        <p:nvSpPr>
          <p:cNvPr id="16" name="Line 8"/>
          <p:cNvSpPr/>
          <p:nvPr/>
        </p:nvSpPr>
        <p:spPr>
          <a:xfrm>
            <a:off x="3527425" y="5012038"/>
            <a:ext cx="2428875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ine 8"/>
          <p:cNvSpPr/>
          <p:nvPr/>
        </p:nvSpPr>
        <p:spPr>
          <a:xfrm>
            <a:off x="3522663" y="2143125"/>
            <a:ext cx="2428875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0"/>
          <p:cNvSpPr/>
          <p:nvPr/>
        </p:nvSpPr>
        <p:spPr>
          <a:xfrm>
            <a:off x="3090863" y="3632200"/>
            <a:ext cx="431800" cy="0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AutoShape 4"/>
          <p:cNvSpPr/>
          <p:nvPr/>
        </p:nvSpPr>
        <p:spPr>
          <a:xfrm>
            <a:off x="1104900" y="3436938"/>
            <a:ext cx="2132013" cy="374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a typeface="楷体_GB2312"/>
                <a:sym typeface="Arial" panose="020B0604020202020204" pitchFamily="34" charset="0"/>
              </a:rPr>
              <a:t>W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楷体_GB2312"/>
                <a:sym typeface="Arial" panose="020B0604020202020204" pitchFamily="34" charset="0"/>
              </a:rPr>
              <a:t>LAN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" name="Line 36"/>
          <p:cNvSpPr/>
          <p:nvPr/>
        </p:nvSpPr>
        <p:spPr>
          <a:xfrm>
            <a:off x="3522663" y="2143125"/>
            <a:ext cx="0" cy="2868913"/>
          </a:xfrm>
          <a:prstGeom prst="line">
            <a:avLst/>
          </a:prstGeom>
          <a:ln w="2857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AutoShape 5"/>
          <p:cNvSpPr/>
          <p:nvPr/>
        </p:nvSpPr>
        <p:spPr>
          <a:xfrm>
            <a:off x="4443413" y="4771731"/>
            <a:ext cx="2000250" cy="5107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63855" indent="-363855">
              <a:lnSpc>
                <a:spcPct val="150000"/>
              </a:lnSpc>
              <a:buClr>
                <a:schemeClr val="tx1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    </a:t>
            </a:r>
            <a:r>
              <a:rPr lang="en-US" altLang="zh-CN" sz="1600" b="1" dirty="0" smtClean="0">
                <a:solidFill>
                  <a:srgbClr val="FF0000"/>
                </a:solidFill>
                <a:latin typeface="Arial" panose="020B0604020202020204" pitchFamily="34" charset="0"/>
                <a:ea typeface="华文细黑" pitchFamily="2" charset="-122"/>
              </a:rPr>
              <a:t>WLAN</a:t>
            </a:r>
            <a:r>
              <a:rPr lang="zh-CN" altLang="en-US" sz="1600" b="1" dirty="0" smtClean="0">
                <a:solidFill>
                  <a:srgbClr val="FF0000"/>
                </a:solidFill>
                <a:ea typeface="华文细黑" pitchFamily="2" charset="-122"/>
              </a:rPr>
              <a:t>配置命令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AutoShape 5"/>
          <p:cNvSpPr/>
          <p:nvPr/>
        </p:nvSpPr>
        <p:spPr>
          <a:xfrm>
            <a:off x="4416425" y="1917754"/>
            <a:ext cx="1971675" cy="460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63855" indent="-363855">
              <a:lnSpc>
                <a:spcPct val="150000"/>
              </a:lnSpc>
              <a:spcBef>
                <a:spcPct val="50000"/>
              </a:spcBef>
              <a:buClr>
                <a:srgbClr val="CC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  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WLAN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华文细黑" pitchFamily="2" charset="-122"/>
              </a:rPr>
              <a:t>项目案例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3519561"/>
      </p:ext>
    </p:extLst>
  </p:cSld>
  <p:clrMapOvr>
    <a:masterClrMapping/>
  </p:clrMapOvr>
</p:sld>
</file>

<file path=ppt/theme/theme1.xml><?xml version="1.0" encoding="utf-8"?>
<a:theme xmlns:a="http://schemas.openxmlformats.org/drawingml/2006/main" name="技术培训胶片＋注释中文模板V1.1(20090429)">
  <a:themeElements>
    <a:clrScheme name="技术培训胶片＋注释中文模板V1.1(20090429) 1">
      <a:dk1>
        <a:srgbClr val="000000"/>
      </a:dk1>
      <a:lt1>
        <a:srgbClr val="FFFFFF"/>
      </a:lt1>
      <a:dk2>
        <a:srgbClr val="990000"/>
      </a:dk2>
      <a:lt2>
        <a:srgbClr val="CCCCCC"/>
      </a:lt2>
      <a:accent1>
        <a:srgbClr val="99CCCC"/>
      </a:accent1>
      <a:accent2>
        <a:srgbClr val="990000"/>
      </a:accent2>
      <a:accent3>
        <a:srgbClr val="FFFFFF"/>
      </a:accent3>
      <a:accent4>
        <a:srgbClr val="000000"/>
      </a:accent4>
      <a:accent5>
        <a:srgbClr val="CAE2E2"/>
      </a:accent5>
      <a:accent6>
        <a:srgbClr val="8A0000"/>
      </a:accent6>
      <a:hlink>
        <a:srgbClr val="009999"/>
      </a:hlink>
      <a:folHlink>
        <a:srgbClr val="999999"/>
      </a:folHlink>
    </a:clrScheme>
    <a:fontScheme name="技术培训胶片＋注释中文模板V1.1(20090429)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7842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7842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技术培训胶片＋注释中文模板V1.1(20090429) 1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99CCCC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8A0000"/>
        </a:accent6>
        <a:hlink>
          <a:srgbClr val="0099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术培训胶片＋注释中文模板V1.1(20090429) 2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0000"/>
        </a:accent6>
        <a:hlink>
          <a:srgbClr val="66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术培训胶片＋注释中文模板V1.1(20090429) 3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CC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0000"/>
        </a:accent6>
        <a:hlink>
          <a:srgbClr val="FF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术培训胶片＋注释中文模板V1.1(20090429) 4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9900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8A0000"/>
        </a:accent6>
        <a:hlink>
          <a:srgbClr val="99660A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术培训胶片＋注释中文模板V1.1(20090429) 5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CCFF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0000"/>
        </a:accent6>
        <a:hlink>
          <a:srgbClr val="99660A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7842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7842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3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99CCCC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8A0000"/>
        </a:accent6>
        <a:hlink>
          <a:srgbClr val="0099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14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0000"/>
        </a:accent6>
        <a:hlink>
          <a:srgbClr val="66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15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CC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0000"/>
        </a:accent6>
        <a:hlink>
          <a:srgbClr val="FF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16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9900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8A0000"/>
        </a:accent6>
        <a:hlink>
          <a:srgbClr val="99660A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1955</Words>
  <Application>Microsoft Office PowerPoint</Application>
  <PresentationFormat>宽屏</PresentationFormat>
  <Paragraphs>144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FrutigerNext LT Bold</vt:lpstr>
      <vt:lpstr>FrutigerNext LT Medium</vt:lpstr>
      <vt:lpstr>FrutigerNext LT Regular</vt:lpstr>
      <vt:lpstr>MS PGothic</vt:lpstr>
      <vt:lpstr>黑体</vt:lpstr>
      <vt:lpstr>华文细黑</vt:lpstr>
      <vt:lpstr>楷体_GB2312</vt:lpstr>
      <vt:lpstr>宋体</vt:lpstr>
      <vt:lpstr>Arial</vt:lpstr>
      <vt:lpstr>Calibri</vt:lpstr>
      <vt:lpstr>Calibri Light</vt:lpstr>
      <vt:lpstr>Wingdings</vt:lpstr>
      <vt:lpstr>技术培训胶片＋注释中文模板V1.1(20090429)</vt:lpstr>
      <vt:lpstr>1_自定义设计方案</vt:lpstr>
      <vt:lpstr>Office 主题</vt:lpstr>
      <vt:lpstr>第二十一章 WLAN技术配置</vt:lpstr>
      <vt:lpstr>课前小考</vt:lpstr>
      <vt:lpstr>技能展示</vt:lpstr>
      <vt:lpstr>本章结构</vt:lpstr>
      <vt:lpstr>配置AP上线一</vt:lpstr>
      <vt:lpstr>配置AP上线二</vt:lpstr>
      <vt:lpstr>配置AP上线三</vt:lpstr>
      <vt:lpstr>配置射频一</vt:lpstr>
      <vt:lpstr>配置射频二</vt:lpstr>
      <vt:lpstr>配置射频三</vt:lpstr>
      <vt:lpstr>配置VAP一</vt:lpstr>
      <vt:lpstr>配置VAP二</vt:lpstr>
      <vt:lpstr>配置VAP三</vt:lpstr>
      <vt:lpstr>配置VAP四</vt:lpstr>
      <vt:lpstr>PowerPoint 演示文稿</vt:lpstr>
      <vt:lpstr>案例一 旁挂二层组网隧道转发</vt:lpstr>
      <vt:lpstr>案例一 配置网络互通</vt:lpstr>
      <vt:lpstr>案例一 配置AP上线一</vt:lpstr>
      <vt:lpstr>案例一 配置AP上线二</vt:lpstr>
      <vt:lpstr>案例一 查看AP上线</vt:lpstr>
      <vt:lpstr>案例一 配置WLAN业务参数一</vt:lpstr>
      <vt:lpstr>案例一 配置WLAN业务参数二</vt:lpstr>
      <vt:lpstr>案例一 查看VAP模板信息</vt:lpstr>
      <vt:lpstr>本章总结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0</dc:title>
  <dc:creator>l46283</dc:creator>
  <cp:lastModifiedBy>dt</cp:lastModifiedBy>
  <cp:revision>424</cp:revision>
  <dcterms:created xsi:type="dcterms:W3CDTF">2010-01-08T02:03:00Z</dcterms:created>
  <dcterms:modified xsi:type="dcterms:W3CDTF">2023-03-25T02:06:59Z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(5)ag6Bh4vTrYgTsGaaP+vId3NAGvopGBMGeWNPQL0D3ey/o5MAGtpHUz68XS/YtutbMfFaRl+i_x000d_
oMDQYe3jf777nY/KUOv2bkupudy+iKKQ0fqgfCQDkpzn30FPLGUz7s46MrH/qLo5KmoLDDBP_x000d_
cjL/qd78jfFW+xZh/7m0MQ7NfjRIEO1r6dzrFTp9pfiS4OfPe5FYH0t+CrLNNCVIBgCX/C0U_x000d_
rxfcDtTTOopMKxtguv</vt:lpwstr>
  </property>
  <property fmtid="{D5CDD505-2E9C-101B-9397-08002B2CF9AE}" pid="3" name="_ms_pID_7253431">
    <vt:lpwstr>lOQVWToLS6UrQ2p78zfZ/e/hmyD1gUaZZHHn+VxTp3A+p0wfO3rjd5_x000d_
yPDbpYT7M/2bnupXr5kxkGnJa4kKavWXcFy6WjjCz24ngOYoynid9zQV8IrzVYaeDpde+yT1_x000d_
Jmn9mF26LOtgJEt/QSzwISgEdYFkhzVQH/JS9Xzgagb5g/Z8wpDBHG/WcQ7tjAtcU7CWPwMt_x000d_
yKG3hyjZ59lgjV9QtTVGI+b23nbmPdPWyYfZ</vt:lpwstr>
  </property>
  <property fmtid="{D5CDD505-2E9C-101B-9397-08002B2CF9AE}" pid="4" name="_ms_pID_7253432">
    <vt:lpwstr>CDwNsRKQNmlb6qHlz2uZ5dKLt3knEU3zatL2_x000d_
ywcJvk2kCpuh60xSYI2SQnjAp97FJ8xZ4P5BVxdqb9+2yDZTCHcMe40B3d4djMniVKZTeAaW_x000d_
1mkhI2bbjyeXOgGAmqE0foKvmKkUwnnVtG8oJkq86rnO5uYSVTWbJslBmOdHGfcK3A8s+mIr_x000d_
z/TCGnN0FCjmBRw/fVWRTG4bWAfLyO5rlGFEcF67zBQo2rjdA0S2w9</vt:lpwstr>
  </property>
  <property fmtid="{D5CDD505-2E9C-101B-9397-08002B2CF9AE}" pid="5" name="_ms_pID_7253433">
    <vt:lpwstr>S+c5wv/H+lgHvhWcya_x000d_
hLTrJOpjvGHX7jLisQwXGbXW8JVkdnDVPYH6B0NEqSob8Od7HmOApjDFUPfjQoHBaP+nJxvT_x000d_
Q57l1oMQ4u3SQwtY6GDWr2/15Mls5kew30rAE6z90Ldedbh/FTwDq0LVexCSfn14SGaT+5o9_x000d_
Yhlcc6n8k8pBvR3rvqW6OR/tE/WhRWC4xstsmY6oJBWPjA9Sgv5BrsKebu+YsCg10uT8FvKA</vt:lpwstr>
  </property>
  <property fmtid="{D5CDD505-2E9C-101B-9397-08002B2CF9AE}" pid="6" name="_ms_pID_725343_00">
    <vt:lpwstr>_ms_pID_725343</vt:lpwstr>
  </property>
  <property fmtid="{D5CDD505-2E9C-101B-9397-08002B2CF9AE}" pid="7" name="_ms_pID_7253431_00">
    <vt:lpwstr>_ms_pID_7253431</vt:lpwstr>
  </property>
  <property fmtid="{D5CDD505-2E9C-101B-9397-08002B2CF9AE}" pid="8" name="_ms_pID_7253432_00">
    <vt:lpwstr>_ms_pID_7253432</vt:lpwstr>
  </property>
  <property fmtid="{D5CDD505-2E9C-101B-9397-08002B2CF9AE}" pid="9" name="_ms_pID_7253433_00">
    <vt:lpwstr>_ms_pID_7253433</vt:lpwstr>
  </property>
  <property fmtid="{D5CDD505-2E9C-101B-9397-08002B2CF9AE}" pid="10" name="_ms_pID_7253434">
    <vt:lpwstr>_x000d_
j0A=</vt:lpwstr>
  </property>
  <property fmtid="{D5CDD505-2E9C-101B-9397-08002B2CF9AE}" pid="11" name="_ms_pID_7253434_00">
    <vt:lpwstr>_ms_pID_7253434</vt:lpwstr>
  </property>
  <property fmtid="{D5CDD505-2E9C-101B-9397-08002B2CF9AE}" pid="12" name="sflag">
    <vt:lpwstr>1364283930</vt:lpwstr>
  </property>
  <property fmtid="{D5CDD505-2E9C-101B-9397-08002B2CF9AE}" pid="13" name="KSOProductBuildVer">
    <vt:lpwstr>2052-11.1.0.10116</vt:lpwstr>
  </property>
</Properties>
</file>